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strument Sans Semi Bold"/>
      <p:regular r:id="rId17"/>
    </p:embeddedFont>
    <p:embeddedFont>
      <p:font typeface="Instrument Sans Semi Bold"/>
      <p:regular r:id="rId18"/>
    </p:embeddedFont>
    <p:embeddedFont>
      <p:font typeface="Instrument Sans Semi Bold"/>
      <p:regular r:id="rId19"/>
    </p:embeddedFont>
    <p:embeddedFont>
      <p:font typeface="Instrument Sans Semi Bold"/>
      <p:regular r:id="rId20"/>
    </p:embeddedFont>
    <p:embeddedFont>
      <p:font typeface="Instrument Sans Medium"/>
      <p:regular r:id="rId21"/>
    </p:embeddedFont>
    <p:embeddedFont>
      <p:font typeface="Instrument Sans Medium"/>
      <p:regular r:id="rId22"/>
    </p:embeddedFont>
    <p:embeddedFont>
      <p:font typeface="Instrument Sans Medium"/>
      <p:regular r:id="rId23"/>
    </p:embeddedFont>
    <p:embeddedFont>
      <p:font typeface="Instrument Sans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4.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10.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4525"/>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Social Mood Matcher</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AI-powered caption and hashtag generation for social media—powered by Streamlit and Hugging Face Transformers. Detects image sentiment, generates engaging captions, and recommends trending 2024 hashtags—all within platform character limits.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77058"/>
            <a:ext cx="7296507"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Why Social Mood Matcher?</a:t>
            </a:r>
            <a:endParaRPr lang="en-US" sz="4450" dirty="0"/>
          </a:p>
        </p:txBody>
      </p:sp>
      <p:sp>
        <p:nvSpPr>
          <p:cNvPr id="3" name="Text 1"/>
          <p:cNvSpPr/>
          <p:nvPr/>
        </p:nvSpPr>
        <p:spPr>
          <a:xfrm>
            <a:off x="793790" y="34528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The Challenge</a:t>
            </a:r>
            <a:endParaRPr lang="en-US" sz="2200" dirty="0"/>
          </a:p>
        </p:txBody>
      </p:sp>
      <p:sp>
        <p:nvSpPr>
          <p:cNvPr id="4" name="Text 2"/>
          <p:cNvSpPr/>
          <p:nvPr/>
        </p:nvSpPr>
        <p:spPr>
          <a:xfrm>
            <a:off x="793790" y="4033957"/>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Social media managers spend hours crafting the perfect caption. Balancing character limits, platform trends, and authentic brand voice is exhausting. How do you ensure your post resonates emotionally while staying platform-optimized?</a:t>
            </a:r>
            <a:endParaRPr lang="en-US" sz="1750" dirty="0"/>
          </a:p>
        </p:txBody>
      </p:sp>
      <p:sp>
        <p:nvSpPr>
          <p:cNvPr id="5" name="Text 3"/>
          <p:cNvSpPr/>
          <p:nvPr/>
        </p:nvSpPr>
        <p:spPr>
          <a:xfrm>
            <a:off x="7599521" y="34528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The Solution</a:t>
            </a:r>
            <a:endParaRPr lang="en-US" sz="2200" dirty="0"/>
          </a:p>
        </p:txBody>
      </p:sp>
      <p:sp>
        <p:nvSpPr>
          <p:cNvPr id="6" name="Text 4"/>
          <p:cNvSpPr/>
          <p:nvPr/>
        </p:nvSpPr>
        <p:spPr>
          <a:xfrm>
            <a:off x="7599521" y="4033957"/>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An AI-powered system that analyzes your image's mood, generates platform-optimized captions in your preferred tone, and suggests trending 2024 hashtags—all in seconds. No API keys. No guesswork. Just compelling content.</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46390"/>
            <a:ext cx="6485096"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Key Features at a Glance</a:t>
            </a:r>
            <a:endParaRPr lang="en-US" sz="4450" dirty="0"/>
          </a:p>
        </p:txBody>
      </p:sp>
      <p:sp>
        <p:nvSpPr>
          <p:cNvPr id="3" name="Shape 1"/>
          <p:cNvSpPr/>
          <p:nvPr/>
        </p:nvSpPr>
        <p:spPr>
          <a:xfrm>
            <a:off x="793790" y="1808798"/>
            <a:ext cx="6407944" cy="2955250"/>
          </a:xfrm>
          <a:prstGeom prst="roundRect">
            <a:avLst>
              <a:gd name="adj" fmla="val 3224"/>
            </a:avLst>
          </a:prstGeom>
          <a:solidFill>
            <a:srgbClr val="3D3D42"/>
          </a:solidFill>
          <a:ln w="7620">
            <a:solidFill>
              <a:srgbClr val="56565B"/>
            </a:solidFill>
            <a:prstDash val="solid"/>
          </a:ln>
        </p:spPr>
      </p:sp>
      <p:pic>
        <p:nvPicPr>
          <p:cNvPr id="4" name="Image 0" descr="preencoded.png">    </p:cNvPr>
          <p:cNvPicPr>
            <a:picLocks noChangeAspect="1"/>
          </p:cNvPicPr>
          <p:nvPr/>
        </p:nvPicPr>
        <p:blipFill>
          <a:blip r:embed="rId1"/>
          <a:stretch>
            <a:fillRect/>
          </a:stretch>
        </p:blipFill>
        <p:spPr>
          <a:xfrm>
            <a:off x="1028224" y="2043232"/>
            <a:ext cx="680442" cy="680442"/>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5390" y="2230279"/>
            <a:ext cx="306110" cy="306110"/>
          </a:xfrm>
          <a:prstGeom prst="rect">
            <a:avLst/>
          </a:prstGeom>
        </p:spPr>
      </p:pic>
      <p:sp>
        <p:nvSpPr>
          <p:cNvPr id="6" name="Text 2"/>
          <p:cNvSpPr/>
          <p:nvPr/>
        </p:nvSpPr>
        <p:spPr>
          <a:xfrm>
            <a:off x="1028224" y="2950488"/>
            <a:ext cx="3679031"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Image Sentiment Detection</a:t>
            </a:r>
            <a:endParaRPr lang="en-US" sz="2200" dirty="0"/>
          </a:p>
        </p:txBody>
      </p:sp>
      <p:sp>
        <p:nvSpPr>
          <p:cNvPr id="7" name="Text 3"/>
          <p:cNvSpPr/>
          <p:nvPr/>
        </p:nvSpPr>
        <p:spPr>
          <a:xfrm>
            <a:off x="1028224" y="3440906"/>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Analyzes scenery and food images to infer mood—cozy, happy, aesthetic, calm, luxury, adventurous, and more.</a:t>
            </a:r>
            <a:endParaRPr lang="en-US" sz="1750" dirty="0"/>
          </a:p>
        </p:txBody>
      </p:sp>
      <p:sp>
        <p:nvSpPr>
          <p:cNvPr id="8" name="Shape 4"/>
          <p:cNvSpPr/>
          <p:nvPr/>
        </p:nvSpPr>
        <p:spPr>
          <a:xfrm>
            <a:off x="7428548" y="1808798"/>
            <a:ext cx="6408063" cy="2955250"/>
          </a:xfrm>
          <a:prstGeom prst="roundRect">
            <a:avLst>
              <a:gd name="adj" fmla="val 3224"/>
            </a:avLst>
          </a:prstGeom>
          <a:solidFill>
            <a:srgbClr val="3D3D42"/>
          </a:solidFill>
          <a:ln w="7620">
            <a:solidFill>
              <a:srgbClr val="56565B"/>
            </a:solidFill>
            <a:prstDash val="solid"/>
          </a:ln>
        </p:spPr>
      </p:sp>
      <p:pic>
        <p:nvPicPr>
          <p:cNvPr id="9" name="Image 2" descr="preencoded.png">    </p:cNvPr>
          <p:cNvPicPr>
            <a:picLocks noChangeAspect="1"/>
          </p:cNvPicPr>
          <p:nvPr/>
        </p:nvPicPr>
        <p:blipFill>
          <a:blip r:embed="rId4"/>
          <a:stretch>
            <a:fillRect/>
          </a:stretch>
        </p:blipFill>
        <p:spPr>
          <a:xfrm>
            <a:off x="7662982" y="2043232"/>
            <a:ext cx="680442" cy="680442"/>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50148" y="2230279"/>
            <a:ext cx="306110" cy="306110"/>
          </a:xfrm>
          <a:prstGeom prst="rect">
            <a:avLst/>
          </a:prstGeom>
        </p:spPr>
      </p:pic>
      <p:sp>
        <p:nvSpPr>
          <p:cNvPr id="11" name="Text 5"/>
          <p:cNvSpPr/>
          <p:nvPr/>
        </p:nvSpPr>
        <p:spPr>
          <a:xfrm>
            <a:off x="7662982" y="2950488"/>
            <a:ext cx="3508177"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Smart Caption Generation</a:t>
            </a:r>
            <a:endParaRPr lang="en-US" sz="2200" dirty="0"/>
          </a:p>
        </p:txBody>
      </p:sp>
      <p:sp>
        <p:nvSpPr>
          <p:cNvPr id="12" name="Text 6"/>
          <p:cNvSpPr/>
          <p:nvPr/>
        </p:nvSpPr>
        <p:spPr>
          <a:xfrm>
            <a:off x="7662982" y="3440906"/>
            <a:ext cx="5939195"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Creates engaging captions in four styles: casual, aesthetic, professional, or playful. Tailored to your brand voice.</a:t>
            </a:r>
            <a:endParaRPr lang="en-US" sz="1750" dirty="0"/>
          </a:p>
        </p:txBody>
      </p:sp>
      <p:sp>
        <p:nvSpPr>
          <p:cNvPr id="13" name="Shape 7"/>
          <p:cNvSpPr/>
          <p:nvPr/>
        </p:nvSpPr>
        <p:spPr>
          <a:xfrm>
            <a:off x="793790" y="4990862"/>
            <a:ext cx="6407944" cy="2592348"/>
          </a:xfrm>
          <a:prstGeom prst="roundRect">
            <a:avLst>
              <a:gd name="adj" fmla="val 3675"/>
            </a:avLst>
          </a:prstGeom>
          <a:solidFill>
            <a:srgbClr val="3D3D42"/>
          </a:solidFill>
          <a:ln w="7620">
            <a:solidFill>
              <a:srgbClr val="56565B"/>
            </a:solidFill>
            <a:prstDash val="solid"/>
          </a:ln>
        </p:spPr>
      </p:sp>
      <p:pic>
        <p:nvPicPr>
          <p:cNvPr id="14" name="Image 4" descr="preencoded.png">    </p:cNvPr>
          <p:cNvPicPr>
            <a:picLocks noChangeAspect="1"/>
          </p:cNvPicPr>
          <p:nvPr/>
        </p:nvPicPr>
        <p:blipFill>
          <a:blip r:embed="rId7"/>
          <a:stretch>
            <a:fillRect/>
          </a:stretch>
        </p:blipFill>
        <p:spPr>
          <a:xfrm>
            <a:off x="1028224" y="5225296"/>
            <a:ext cx="680442" cy="680442"/>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5390" y="5412343"/>
            <a:ext cx="306110" cy="306110"/>
          </a:xfrm>
          <a:prstGeom prst="rect">
            <a:avLst/>
          </a:prstGeom>
        </p:spPr>
      </p:pic>
      <p:sp>
        <p:nvSpPr>
          <p:cNvPr id="16" name="Text 8"/>
          <p:cNvSpPr/>
          <p:nvPr/>
        </p:nvSpPr>
        <p:spPr>
          <a:xfrm>
            <a:off x="1028224" y="6132552"/>
            <a:ext cx="3357682"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Trending Hashtag Engine</a:t>
            </a:r>
            <a:endParaRPr lang="en-US" sz="2200" dirty="0"/>
          </a:p>
        </p:txBody>
      </p:sp>
      <p:sp>
        <p:nvSpPr>
          <p:cNvPr id="17" name="Text 9"/>
          <p:cNvSpPr/>
          <p:nvPr/>
        </p:nvSpPr>
        <p:spPr>
          <a:xfrm>
            <a:off x="1028224" y="6622971"/>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Curated 2024 hashtags organized by category and sentiment. No more guessing what's popular this week.</a:t>
            </a:r>
            <a:endParaRPr lang="en-US" sz="1750" dirty="0"/>
          </a:p>
        </p:txBody>
      </p:sp>
      <p:sp>
        <p:nvSpPr>
          <p:cNvPr id="18" name="Shape 10"/>
          <p:cNvSpPr/>
          <p:nvPr/>
        </p:nvSpPr>
        <p:spPr>
          <a:xfrm>
            <a:off x="7428548" y="4990862"/>
            <a:ext cx="6408063" cy="2592348"/>
          </a:xfrm>
          <a:prstGeom prst="roundRect">
            <a:avLst>
              <a:gd name="adj" fmla="val 3675"/>
            </a:avLst>
          </a:prstGeom>
          <a:solidFill>
            <a:srgbClr val="3D3D42"/>
          </a:solidFill>
          <a:ln w="7620">
            <a:solidFill>
              <a:srgbClr val="56565B"/>
            </a:solidFill>
            <a:prstDash val="solid"/>
          </a:ln>
        </p:spPr>
      </p:sp>
      <p:pic>
        <p:nvPicPr>
          <p:cNvPr id="19" name="Image 6" descr="preencoded.png">    </p:cNvPr>
          <p:cNvPicPr>
            <a:picLocks noChangeAspect="1"/>
          </p:cNvPicPr>
          <p:nvPr/>
        </p:nvPicPr>
        <p:blipFill>
          <a:blip r:embed="rId10"/>
          <a:stretch>
            <a:fillRect/>
          </a:stretch>
        </p:blipFill>
        <p:spPr>
          <a:xfrm>
            <a:off x="7662982" y="5225296"/>
            <a:ext cx="680442" cy="680442"/>
          </a:xfrm>
          <a:prstGeom prst="rect">
            <a:avLst/>
          </a:prstGeom>
        </p:spPr>
      </p:pic>
      <p:pic>
        <p:nvPicPr>
          <p:cNvPr id="20"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50148" y="5412343"/>
            <a:ext cx="306110" cy="306110"/>
          </a:xfrm>
          <a:prstGeom prst="rect">
            <a:avLst/>
          </a:prstGeom>
        </p:spPr>
      </p:pic>
      <p:sp>
        <p:nvSpPr>
          <p:cNvPr id="21" name="Text 11"/>
          <p:cNvSpPr/>
          <p:nvPr/>
        </p:nvSpPr>
        <p:spPr>
          <a:xfrm>
            <a:off x="7662982" y="6132552"/>
            <a:ext cx="3448050"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Platform Character Limits</a:t>
            </a:r>
            <a:endParaRPr lang="en-US" sz="2200" dirty="0"/>
          </a:p>
        </p:txBody>
      </p:sp>
      <p:sp>
        <p:nvSpPr>
          <p:cNvPr id="22" name="Text 12"/>
          <p:cNvSpPr/>
          <p:nvPr/>
        </p:nvSpPr>
        <p:spPr>
          <a:xfrm>
            <a:off x="7662982" y="6622971"/>
            <a:ext cx="5939195"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Smart truncation for Twitter/X (280 chars), Instagram, and Facebook. Never hit the limit again.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7774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How It Works</a:t>
            </a:r>
            <a:endParaRPr lang="en-US" sz="4450" dirty="0"/>
          </a:p>
        </p:txBody>
      </p:sp>
      <p:sp>
        <p:nvSpPr>
          <p:cNvPr id="3" name="Text 1"/>
          <p:cNvSpPr/>
          <p:nvPr/>
        </p:nvSpPr>
        <p:spPr>
          <a:xfrm>
            <a:off x="793790" y="214014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Light" pitchFamily="34" charset="0"/>
                <a:ea typeface="Instrument Sans Light" pitchFamily="34" charset="-122"/>
                <a:cs typeface="Instrument Sans Light" pitchFamily="34" charset="-120"/>
              </a:rPr>
              <a:t>01</a:t>
            </a:r>
            <a:endParaRPr lang="en-US" sz="1750" dirty="0"/>
          </a:p>
        </p:txBody>
      </p:sp>
      <p:pic>
        <p:nvPicPr>
          <p:cNvPr id="4" name="Image 0" descr="preencoded.png">    </p:cNvPr>
          <p:cNvPicPr>
            <a:picLocks noChangeAspect="1"/>
          </p:cNvPicPr>
          <p:nvPr/>
        </p:nvPicPr>
        <p:blipFill>
          <a:blip r:embed="rId1"/>
          <a:stretch>
            <a:fillRect/>
          </a:stretch>
        </p:blipFill>
        <p:spPr>
          <a:xfrm>
            <a:off x="793790" y="2495193"/>
            <a:ext cx="6407944" cy="30480"/>
          </a:xfrm>
          <a:prstGeom prst="rect">
            <a:avLst/>
          </a:prstGeom>
        </p:spPr>
      </p:pic>
      <p:sp>
        <p:nvSpPr>
          <p:cNvPr id="5" name="Text 2"/>
          <p:cNvSpPr/>
          <p:nvPr/>
        </p:nvSpPr>
        <p:spPr>
          <a:xfrm>
            <a:off x="793790" y="266950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Upload Your Image</a:t>
            </a:r>
            <a:endParaRPr lang="en-US" sz="2200" dirty="0"/>
          </a:p>
        </p:txBody>
      </p:sp>
      <p:sp>
        <p:nvSpPr>
          <p:cNvPr id="6" name="Text 3"/>
          <p:cNvSpPr/>
          <p:nvPr/>
        </p:nvSpPr>
        <p:spPr>
          <a:xfrm>
            <a:off x="793790" y="3159919"/>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Supported formats: JPG, PNG, WEBP</a:t>
            </a:r>
            <a:endParaRPr lang="en-US" sz="1750" dirty="0"/>
          </a:p>
        </p:txBody>
      </p:sp>
      <p:sp>
        <p:nvSpPr>
          <p:cNvPr id="7" name="Text 4"/>
          <p:cNvSpPr/>
          <p:nvPr/>
        </p:nvSpPr>
        <p:spPr>
          <a:xfrm>
            <a:off x="7428548" y="214014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Light" pitchFamily="34" charset="0"/>
                <a:ea typeface="Instrument Sans Light" pitchFamily="34" charset="-122"/>
                <a:cs typeface="Instrument Sans Light" pitchFamily="34" charset="-120"/>
              </a:rPr>
              <a:t>02</a:t>
            </a:r>
            <a:endParaRPr lang="en-US" sz="1750" dirty="0"/>
          </a:p>
        </p:txBody>
      </p:sp>
      <p:pic>
        <p:nvPicPr>
          <p:cNvPr id="8" name="Image 1" descr="preencoded.png">    </p:cNvPr>
          <p:cNvPicPr>
            <a:picLocks noChangeAspect="1"/>
          </p:cNvPicPr>
          <p:nvPr/>
        </p:nvPicPr>
        <p:blipFill>
          <a:blip r:embed="rId2"/>
          <a:stretch>
            <a:fillRect/>
          </a:stretch>
        </p:blipFill>
        <p:spPr>
          <a:xfrm>
            <a:off x="7428548" y="2495193"/>
            <a:ext cx="6408063" cy="30480"/>
          </a:xfrm>
          <a:prstGeom prst="rect">
            <a:avLst/>
          </a:prstGeom>
        </p:spPr>
      </p:pic>
      <p:sp>
        <p:nvSpPr>
          <p:cNvPr id="9" name="Text 5"/>
          <p:cNvSpPr/>
          <p:nvPr/>
        </p:nvSpPr>
        <p:spPr>
          <a:xfrm>
            <a:off x="7428548" y="2669500"/>
            <a:ext cx="3477816"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Detect Sentiment &amp; Mood</a:t>
            </a:r>
            <a:endParaRPr lang="en-US" sz="2200" dirty="0"/>
          </a:p>
        </p:txBody>
      </p:sp>
      <p:sp>
        <p:nvSpPr>
          <p:cNvPr id="10" name="Text 6"/>
          <p:cNvSpPr/>
          <p:nvPr/>
        </p:nvSpPr>
        <p:spPr>
          <a:xfrm>
            <a:off x="7428548" y="3159919"/>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AI analyzes image to understand its emotional vibe</a:t>
            </a:r>
            <a:endParaRPr lang="en-US" sz="1750" dirty="0"/>
          </a:p>
        </p:txBody>
      </p:sp>
      <p:sp>
        <p:nvSpPr>
          <p:cNvPr id="11" name="Text 7"/>
          <p:cNvSpPr/>
          <p:nvPr/>
        </p:nvSpPr>
        <p:spPr>
          <a:xfrm>
            <a:off x="793790" y="3919657"/>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Light" pitchFamily="34" charset="0"/>
                <a:ea typeface="Instrument Sans Light" pitchFamily="34" charset="-122"/>
                <a:cs typeface="Instrument Sans Light" pitchFamily="34" charset="-120"/>
              </a:rPr>
              <a:t>03</a:t>
            </a:r>
            <a:endParaRPr lang="en-US" sz="1750" dirty="0"/>
          </a:p>
        </p:txBody>
      </p:sp>
      <p:pic>
        <p:nvPicPr>
          <p:cNvPr id="12" name="Image 2" descr="preencoded.png">    </p:cNvPr>
          <p:cNvPicPr>
            <a:picLocks noChangeAspect="1"/>
          </p:cNvPicPr>
          <p:nvPr/>
        </p:nvPicPr>
        <p:blipFill>
          <a:blip r:embed="rId3"/>
          <a:stretch>
            <a:fillRect/>
          </a:stretch>
        </p:blipFill>
        <p:spPr>
          <a:xfrm>
            <a:off x="793790" y="4251960"/>
            <a:ext cx="6407944" cy="30480"/>
          </a:xfrm>
          <a:prstGeom prst="rect">
            <a:avLst/>
          </a:prstGeom>
        </p:spPr>
      </p:pic>
      <p:sp>
        <p:nvSpPr>
          <p:cNvPr id="13" name="Text 8"/>
          <p:cNvSpPr/>
          <p:nvPr/>
        </p:nvSpPr>
        <p:spPr>
          <a:xfrm>
            <a:off x="793790" y="44490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Generate Caption</a:t>
            </a:r>
            <a:endParaRPr lang="en-US" sz="2200" dirty="0"/>
          </a:p>
        </p:txBody>
      </p:sp>
      <p:sp>
        <p:nvSpPr>
          <p:cNvPr id="14" name="Text 9"/>
          <p:cNvSpPr/>
          <p:nvPr/>
        </p:nvSpPr>
        <p:spPr>
          <a:xfrm>
            <a:off x="793790" y="4939427"/>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Create engaging text in your chosen style</a:t>
            </a:r>
            <a:endParaRPr lang="en-US" sz="1750" dirty="0"/>
          </a:p>
        </p:txBody>
      </p:sp>
      <p:sp>
        <p:nvSpPr>
          <p:cNvPr id="15" name="Text 10"/>
          <p:cNvSpPr/>
          <p:nvPr/>
        </p:nvSpPr>
        <p:spPr>
          <a:xfrm>
            <a:off x="7428548" y="3919657"/>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Light" pitchFamily="34" charset="0"/>
                <a:ea typeface="Instrument Sans Light" pitchFamily="34" charset="-122"/>
                <a:cs typeface="Instrument Sans Light" pitchFamily="34" charset="-120"/>
              </a:rPr>
              <a:t>04</a:t>
            </a:r>
            <a:endParaRPr lang="en-US" sz="1750" dirty="0"/>
          </a:p>
        </p:txBody>
      </p:sp>
      <p:pic>
        <p:nvPicPr>
          <p:cNvPr id="16" name="Image 3" descr="preencoded.png">    </p:cNvPr>
          <p:cNvPicPr>
            <a:picLocks noChangeAspect="1"/>
          </p:cNvPicPr>
          <p:nvPr/>
        </p:nvPicPr>
        <p:blipFill>
          <a:blip r:embed="rId4"/>
          <a:stretch>
            <a:fillRect/>
          </a:stretch>
        </p:blipFill>
        <p:spPr>
          <a:xfrm>
            <a:off x="7428548" y="4251960"/>
            <a:ext cx="6408063" cy="30480"/>
          </a:xfrm>
          <a:prstGeom prst="rect">
            <a:avLst/>
          </a:prstGeom>
        </p:spPr>
      </p:pic>
      <p:sp>
        <p:nvSpPr>
          <p:cNvPr id="17" name="Text 11"/>
          <p:cNvSpPr/>
          <p:nvPr/>
        </p:nvSpPr>
        <p:spPr>
          <a:xfrm>
            <a:off x="7428548" y="4449008"/>
            <a:ext cx="3021092"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Recommend Hashtags</a:t>
            </a:r>
            <a:endParaRPr lang="en-US" sz="2200" dirty="0"/>
          </a:p>
        </p:txBody>
      </p:sp>
      <p:sp>
        <p:nvSpPr>
          <p:cNvPr id="18" name="Text 12"/>
          <p:cNvSpPr/>
          <p:nvPr/>
        </p:nvSpPr>
        <p:spPr>
          <a:xfrm>
            <a:off x="7428548" y="4939427"/>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Suggest trending 2024 tags by category</a:t>
            </a:r>
            <a:endParaRPr lang="en-US" sz="1750" dirty="0"/>
          </a:p>
        </p:txBody>
      </p:sp>
      <p:sp>
        <p:nvSpPr>
          <p:cNvPr id="19" name="Text 13"/>
          <p:cNvSpPr/>
          <p:nvPr/>
        </p:nvSpPr>
        <p:spPr>
          <a:xfrm>
            <a:off x="793790" y="569916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Light" pitchFamily="34" charset="0"/>
                <a:ea typeface="Instrument Sans Light" pitchFamily="34" charset="-122"/>
                <a:cs typeface="Instrument Sans Light" pitchFamily="34" charset="-120"/>
              </a:rPr>
              <a:t>05</a:t>
            </a:r>
            <a:endParaRPr lang="en-US" sz="1750" dirty="0"/>
          </a:p>
        </p:txBody>
      </p:sp>
      <p:pic>
        <p:nvPicPr>
          <p:cNvPr id="20" name="Image 4" descr="preencoded.png">    </p:cNvPr>
          <p:cNvPicPr>
            <a:picLocks noChangeAspect="1"/>
          </p:cNvPicPr>
          <p:nvPr/>
        </p:nvPicPr>
        <p:blipFill>
          <a:blip r:embed="rId5"/>
          <a:stretch>
            <a:fillRect/>
          </a:stretch>
        </p:blipFill>
        <p:spPr>
          <a:xfrm>
            <a:off x="793790" y="6008846"/>
            <a:ext cx="6407944" cy="30480"/>
          </a:xfrm>
          <a:prstGeom prst="rect">
            <a:avLst/>
          </a:prstGeom>
        </p:spPr>
      </p:pic>
      <p:sp>
        <p:nvSpPr>
          <p:cNvPr id="21" name="Text 14"/>
          <p:cNvSpPr/>
          <p:nvPr/>
        </p:nvSpPr>
        <p:spPr>
          <a:xfrm>
            <a:off x="793790" y="6228517"/>
            <a:ext cx="3058478"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Apply Character Limits</a:t>
            </a:r>
            <a:endParaRPr lang="en-US" sz="2200" dirty="0"/>
          </a:p>
        </p:txBody>
      </p:sp>
      <p:sp>
        <p:nvSpPr>
          <p:cNvPr id="22" name="Text 15"/>
          <p:cNvSpPr/>
          <p:nvPr/>
        </p:nvSpPr>
        <p:spPr>
          <a:xfrm>
            <a:off x="793790" y="6718935"/>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Smart truncation for platform constraints</a:t>
            </a:r>
            <a:endParaRPr lang="en-US" sz="1750" dirty="0"/>
          </a:p>
        </p:txBody>
      </p:sp>
      <p:sp>
        <p:nvSpPr>
          <p:cNvPr id="23" name="Text 16"/>
          <p:cNvSpPr/>
          <p:nvPr/>
        </p:nvSpPr>
        <p:spPr>
          <a:xfrm>
            <a:off x="7428548" y="569916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Light" pitchFamily="34" charset="0"/>
                <a:ea typeface="Instrument Sans Light" pitchFamily="34" charset="-122"/>
                <a:cs typeface="Instrument Sans Light" pitchFamily="34" charset="-120"/>
              </a:rPr>
              <a:t>06</a:t>
            </a:r>
            <a:endParaRPr lang="en-US" sz="1750" dirty="0"/>
          </a:p>
        </p:txBody>
      </p:sp>
      <p:pic>
        <p:nvPicPr>
          <p:cNvPr id="24" name="Image 5" descr="preencoded.png">    </p:cNvPr>
          <p:cNvPicPr>
            <a:picLocks noChangeAspect="1"/>
          </p:cNvPicPr>
          <p:nvPr/>
        </p:nvPicPr>
        <p:blipFill>
          <a:blip r:embed="rId6"/>
          <a:stretch>
            <a:fillRect/>
          </a:stretch>
        </p:blipFill>
        <p:spPr>
          <a:xfrm>
            <a:off x="7428548" y="6008846"/>
            <a:ext cx="6408063" cy="30480"/>
          </a:xfrm>
          <a:prstGeom prst="rect">
            <a:avLst/>
          </a:prstGeom>
        </p:spPr>
      </p:pic>
      <p:sp>
        <p:nvSpPr>
          <p:cNvPr id="25" name="Text 17"/>
          <p:cNvSpPr/>
          <p:nvPr/>
        </p:nvSpPr>
        <p:spPr>
          <a:xfrm>
            <a:off x="7428548" y="622851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Copy &amp; Share</a:t>
            </a:r>
            <a:endParaRPr lang="en-US" sz="2200" dirty="0"/>
          </a:p>
        </p:txBody>
      </p:sp>
      <p:sp>
        <p:nvSpPr>
          <p:cNvPr id="26" name="Text 18"/>
          <p:cNvSpPr/>
          <p:nvPr/>
        </p:nvSpPr>
        <p:spPr>
          <a:xfrm>
            <a:off x="7428548" y="6718935"/>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Paste directly to your social media platform</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46363" y="739735"/>
            <a:ext cx="5046464" cy="589359"/>
          </a:xfrm>
          <a:prstGeom prst="rect">
            <a:avLst/>
          </a:prstGeom>
          <a:noFill/>
          <a:ln/>
        </p:spPr>
        <p:txBody>
          <a:bodyPr wrap="none" lIns="0" tIns="0" rIns="0" bIns="0" rtlCol="0" anchor="t"/>
          <a:lstStyle/>
          <a:p>
            <a:pPr algn="l" indent="0" marL="0">
              <a:lnSpc>
                <a:spcPts val="4600"/>
              </a:lnSpc>
              <a:buNone/>
            </a:pPr>
            <a:r>
              <a:rPr lang="en-US" sz="3700" dirty="0">
                <a:solidFill>
                  <a:srgbClr val="CBCCCE"/>
                </a:solidFill>
                <a:latin typeface="Instrument Sans Semi Bold" pitchFamily="34" charset="0"/>
                <a:ea typeface="Instrument Sans Semi Bold" pitchFamily="34" charset="-122"/>
                <a:cs typeface="Instrument Sans Semi Bold" pitchFamily="34" charset="-120"/>
              </a:rPr>
              <a:t>Technical Architecture</a:t>
            </a:r>
            <a:endParaRPr lang="en-US" sz="3700" dirty="0"/>
          </a:p>
        </p:txBody>
      </p:sp>
      <p:sp>
        <p:nvSpPr>
          <p:cNvPr id="4" name="Shape 1"/>
          <p:cNvSpPr/>
          <p:nvPr/>
        </p:nvSpPr>
        <p:spPr>
          <a:xfrm>
            <a:off x="6146363" y="1564243"/>
            <a:ext cx="7824073" cy="1363861"/>
          </a:xfrm>
          <a:prstGeom prst="roundRect">
            <a:avLst>
              <a:gd name="adj" fmla="val 5808"/>
            </a:avLst>
          </a:prstGeom>
          <a:solidFill>
            <a:srgbClr val="2A2A2D">
              <a:alpha val="95000"/>
            </a:srgbClr>
          </a:solidFill>
          <a:ln w="22860">
            <a:solidFill>
              <a:srgbClr val="56565B"/>
            </a:solidFill>
            <a:prstDash val="solid"/>
          </a:ln>
        </p:spPr>
      </p:sp>
      <p:sp>
        <p:nvSpPr>
          <p:cNvPr id="5" name="Text 2"/>
          <p:cNvSpPr/>
          <p:nvPr/>
        </p:nvSpPr>
        <p:spPr>
          <a:xfrm>
            <a:off x="6357699" y="1775579"/>
            <a:ext cx="2921318" cy="294680"/>
          </a:xfrm>
          <a:prstGeom prst="rect">
            <a:avLst/>
          </a:prstGeom>
          <a:noFill/>
          <a:ln/>
        </p:spPr>
        <p:txBody>
          <a:bodyPr wrap="none" lIns="0" tIns="0" rIns="0" bIns="0" rtlCol="0" anchor="t"/>
          <a:lstStyle/>
          <a:p>
            <a:pPr algn="l" indent="0" marL="0">
              <a:lnSpc>
                <a:spcPts val="2300"/>
              </a:lnSpc>
              <a:buNone/>
            </a:pPr>
            <a:r>
              <a:rPr lang="en-US" sz="1850" dirty="0">
                <a:solidFill>
                  <a:srgbClr val="CFD0D8"/>
                </a:solidFill>
                <a:latin typeface="Instrument Sans Semi Bold" pitchFamily="34" charset="0"/>
                <a:ea typeface="Instrument Sans Semi Bold" pitchFamily="34" charset="-122"/>
                <a:cs typeface="Instrument Sans Semi Bold" pitchFamily="34" charset="-120"/>
              </a:rPr>
              <a:t>Image Processing Pipeline</a:t>
            </a:r>
            <a:endParaRPr lang="en-US" sz="1850" dirty="0"/>
          </a:p>
        </p:txBody>
      </p:sp>
      <p:sp>
        <p:nvSpPr>
          <p:cNvPr id="6" name="Text 3"/>
          <p:cNvSpPr/>
          <p:nvPr/>
        </p:nvSpPr>
        <p:spPr>
          <a:xfrm>
            <a:off x="6357699" y="2164318"/>
            <a:ext cx="7401401" cy="552450"/>
          </a:xfrm>
          <a:prstGeom prst="rect">
            <a:avLst/>
          </a:prstGeom>
          <a:noFill/>
          <a:ln/>
        </p:spPr>
        <p:txBody>
          <a:bodyPr wrap="square" lIns="0" tIns="0" rIns="0" bIns="0" rtlCol="0" anchor="t"/>
          <a:lstStyle/>
          <a:p>
            <a:pPr algn="l" indent="0" marL="0">
              <a:lnSpc>
                <a:spcPts val="2150"/>
              </a:lnSpc>
              <a:buNone/>
            </a:pPr>
            <a:r>
              <a:rPr lang="en-US" sz="1450" dirty="0">
                <a:solidFill>
                  <a:srgbClr val="CFD0D8"/>
                </a:solidFill>
                <a:latin typeface="Instrument Sans Medium" pitchFamily="34" charset="0"/>
                <a:ea typeface="Instrument Sans Medium" pitchFamily="34" charset="-122"/>
                <a:cs typeface="Instrument Sans Medium" pitchFamily="34" charset="-120"/>
              </a:rPr>
              <a:t>Validates and preprocesses uploaded images using PIL/Pillow. Ensures compatibility with AI models before analysis.</a:t>
            </a:r>
            <a:endParaRPr lang="en-US" sz="1450" dirty="0"/>
          </a:p>
        </p:txBody>
      </p:sp>
      <p:sp>
        <p:nvSpPr>
          <p:cNvPr id="7" name="Shape 4"/>
          <p:cNvSpPr/>
          <p:nvPr/>
        </p:nvSpPr>
        <p:spPr>
          <a:xfrm>
            <a:off x="6146363" y="3084790"/>
            <a:ext cx="7824073" cy="1363861"/>
          </a:xfrm>
          <a:prstGeom prst="roundRect">
            <a:avLst>
              <a:gd name="adj" fmla="val 5808"/>
            </a:avLst>
          </a:prstGeom>
          <a:solidFill>
            <a:srgbClr val="2A2A2D">
              <a:alpha val="95000"/>
            </a:srgbClr>
          </a:solidFill>
          <a:ln w="22860">
            <a:solidFill>
              <a:srgbClr val="56565B"/>
            </a:solidFill>
            <a:prstDash val="solid"/>
          </a:ln>
        </p:spPr>
      </p:sp>
      <p:sp>
        <p:nvSpPr>
          <p:cNvPr id="8" name="Text 5"/>
          <p:cNvSpPr/>
          <p:nvPr/>
        </p:nvSpPr>
        <p:spPr>
          <a:xfrm>
            <a:off x="6357699" y="3296126"/>
            <a:ext cx="2526625" cy="294680"/>
          </a:xfrm>
          <a:prstGeom prst="rect">
            <a:avLst/>
          </a:prstGeom>
          <a:noFill/>
          <a:ln/>
        </p:spPr>
        <p:txBody>
          <a:bodyPr wrap="none" lIns="0" tIns="0" rIns="0" bIns="0" rtlCol="0" anchor="t"/>
          <a:lstStyle/>
          <a:p>
            <a:pPr algn="l" indent="0" marL="0">
              <a:lnSpc>
                <a:spcPts val="2300"/>
              </a:lnSpc>
              <a:buNone/>
            </a:pPr>
            <a:r>
              <a:rPr lang="en-US" sz="1850" dirty="0">
                <a:solidFill>
                  <a:srgbClr val="CFD0D8"/>
                </a:solidFill>
                <a:latin typeface="Instrument Sans Semi Bold" pitchFamily="34" charset="0"/>
                <a:ea typeface="Instrument Sans Semi Bold" pitchFamily="34" charset="-122"/>
                <a:cs typeface="Instrument Sans Semi Bold" pitchFamily="34" charset="-120"/>
              </a:rPr>
              <a:t>BLIP Image Captioning</a:t>
            </a:r>
            <a:endParaRPr lang="en-US" sz="1850" dirty="0"/>
          </a:p>
        </p:txBody>
      </p:sp>
      <p:sp>
        <p:nvSpPr>
          <p:cNvPr id="9" name="Text 6"/>
          <p:cNvSpPr/>
          <p:nvPr/>
        </p:nvSpPr>
        <p:spPr>
          <a:xfrm>
            <a:off x="6357699" y="3684865"/>
            <a:ext cx="7401401" cy="552450"/>
          </a:xfrm>
          <a:prstGeom prst="rect">
            <a:avLst/>
          </a:prstGeom>
          <a:noFill/>
          <a:ln/>
        </p:spPr>
        <p:txBody>
          <a:bodyPr wrap="square" lIns="0" tIns="0" rIns="0" bIns="0" rtlCol="0" anchor="t"/>
          <a:lstStyle/>
          <a:p>
            <a:pPr algn="l" indent="0" marL="0">
              <a:lnSpc>
                <a:spcPts val="2150"/>
              </a:lnSpc>
              <a:buNone/>
            </a:pPr>
            <a:r>
              <a:rPr lang="en-US" sz="1450" dirty="0">
                <a:solidFill>
                  <a:srgbClr val="CFD0D8"/>
                </a:solidFill>
                <a:latin typeface="Instrument Sans Medium" pitchFamily="34" charset="0"/>
                <a:ea typeface="Instrument Sans Medium" pitchFamily="34" charset="-122"/>
                <a:cs typeface="Instrument Sans Medium" pitchFamily="34" charset="-120"/>
              </a:rPr>
              <a:t>Salesforce/blip-image-captioning-base model understands image content and generates descriptive text from visual input.</a:t>
            </a:r>
            <a:endParaRPr lang="en-US" sz="1450" dirty="0"/>
          </a:p>
        </p:txBody>
      </p:sp>
      <p:sp>
        <p:nvSpPr>
          <p:cNvPr id="10" name="Shape 7"/>
          <p:cNvSpPr/>
          <p:nvPr/>
        </p:nvSpPr>
        <p:spPr>
          <a:xfrm>
            <a:off x="6146363" y="4605337"/>
            <a:ext cx="7824073" cy="1363861"/>
          </a:xfrm>
          <a:prstGeom prst="roundRect">
            <a:avLst>
              <a:gd name="adj" fmla="val 5808"/>
            </a:avLst>
          </a:prstGeom>
          <a:solidFill>
            <a:srgbClr val="2A2A2D">
              <a:alpha val="95000"/>
            </a:srgbClr>
          </a:solidFill>
          <a:ln w="22860">
            <a:solidFill>
              <a:srgbClr val="56565B"/>
            </a:solidFill>
            <a:prstDash val="solid"/>
          </a:ln>
        </p:spPr>
      </p:sp>
      <p:sp>
        <p:nvSpPr>
          <p:cNvPr id="11" name="Text 8"/>
          <p:cNvSpPr/>
          <p:nvPr/>
        </p:nvSpPr>
        <p:spPr>
          <a:xfrm>
            <a:off x="6357699" y="4816673"/>
            <a:ext cx="2357318" cy="294680"/>
          </a:xfrm>
          <a:prstGeom prst="rect">
            <a:avLst/>
          </a:prstGeom>
          <a:noFill/>
          <a:ln/>
        </p:spPr>
        <p:txBody>
          <a:bodyPr wrap="none" lIns="0" tIns="0" rIns="0" bIns="0" rtlCol="0" anchor="t"/>
          <a:lstStyle/>
          <a:p>
            <a:pPr algn="l" indent="0" marL="0">
              <a:lnSpc>
                <a:spcPts val="2300"/>
              </a:lnSpc>
              <a:buNone/>
            </a:pPr>
            <a:r>
              <a:rPr lang="en-US" sz="1850" dirty="0">
                <a:solidFill>
                  <a:srgbClr val="CFD0D8"/>
                </a:solidFill>
                <a:latin typeface="Instrument Sans Semi Bold" pitchFamily="34" charset="0"/>
                <a:ea typeface="Instrument Sans Semi Bold" pitchFamily="34" charset="-122"/>
                <a:cs typeface="Instrument Sans Semi Bold" pitchFamily="34" charset="-120"/>
              </a:rPr>
              <a:t>Sentiment Analysis</a:t>
            </a:r>
            <a:endParaRPr lang="en-US" sz="1850" dirty="0"/>
          </a:p>
        </p:txBody>
      </p:sp>
      <p:sp>
        <p:nvSpPr>
          <p:cNvPr id="12" name="Text 9"/>
          <p:cNvSpPr/>
          <p:nvPr/>
        </p:nvSpPr>
        <p:spPr>
          <a:xfrm>
            <a:off x="6357699" y="5205413"/>
            <a:ext cx="7401401" cy="552450"/>
          </a:xfrm>
          <a:prstGeom prst="rect">
            <a:avLst/>
          </a:prstGeom>
          <a:noFill/>
          <a:ln/>
        </p:spPr>
        <p:txBody>
          <a:bodyPr wrap="square" lIns="0" tIns="0" rIns="0" bIns="0" rtlCol="0" anchor="t"/>
          <a:lstStyle/>
          <a:p>
            <a:pPr algn="l" indent="0" marL="0">
              <a:lnSpc>
                <a:spcPts val="2150"/>
              </a:lnSpc>
              <a:buNone/>
            </a:pPr>
            <a:r>
              <a:rPr lang="en-US" sz="1450" dirty="0">
                <a:solidFill>
                  <a:srgbClr val="CFD0D8"/>
                </a:solidFill>
                <a:latin typeface="Instrument Sans Medium" pitchFamily="34" charset="0"/>
                <a:ea typeface="Instrument Sans Medium" pitchFamily="34" charset="-122"/>
                <a:cs typeface="Instrument Sans Medium" pitchFamily="34" charset="-120"/>
              </a:rPr>
              <a:t>DistilBERT model (distilbert-base-uncased-finetuned-sst-2-english) detects emotional tone and categorizes mood.</a:t>
            </a:r>
            <a:endParaRPr lang="en-US" sz="1450" dirty="0"/>
          </a:p>
        </p:txBody>
      </p:sp>
      <p:sp>
        <p:nvSpPr>
          <p:cNvPr id="13" name="Shape 10"/>
          <p:cNvSpPr/>
          <p:nvPr/>
        </p:nvSpPr>
        <p:spPr>
          <a:xfrm>
            <a:off x="6146363" y="6125885"/>
            <a:ext cx="7824073" cy="1363861"/>
          </a:xfrm>
          <a:prstGeom prst="roundRect">
            <a:avLst>
              <a:gd name="adj" fmla="val 5808"/>
            </a:avLst>
          </a:prstGeom>
          <a:solidFill>
            <a:srgbClr val="2A2A2D">
              <a:alpha val="95000"/>
            </a:srgbClr>
          </a:solidFill>
          <a:ln w="22860">
            <a:solidFill>
              <a:srgbClr val="56565B"/>
            </a:solidFill>
            <a:prstDash val="solid"/>
          </a:ln>
        </p:spPr>
      </p:sp>
      <p:sp>
        <p:nvSpPr>
          <p:cNvPr id="14" name="Text 11"/>
          <p:cNvSpPr/>
          <p:nvPr/>
        </p:nvSpPr>
        <p:spPr>
          <a:xfrm>
            <a:off x="6357699" y="6337221"/>
            <a:ext cx="2357318" cy="294680"/>
          </a:xfrm>
          <a:prstGeom prst="rect">
            <a:avLst/>
          </a:prstGeom>
          <a:noFill/>
          <a:ln/>
        </p:spPr>
        <p:txBody>
          <a:bodyPr wrap="none" lIns="0" tIns="0" rIns="0" bIns="0" rtlCol="0" anchor="t"/>
          <a:lstStyle/>
          <a:p>
            <a:pPr algn="l" indent="0" marL="0">
              <a:lnSpc>
                <a:spcPts val="2300"/>
              </a:lnSpc>
              <a:buNone/>
            </a:pPr>
            <a:r>
              <a:rPr lang="en-US" sz="1850" dirty="0">
                <a:solidFill>
                  <a:srgbClr val="CFD0D8"/>
                </a:solidFill>
                <a:latin typeface="Instrument Sans Semi Bold" pitchFamily="34" charset="0"/>
                <a:ea typeface="Instrument Sans Semi Bold" pitchFamily="34" charset="-122"/>
                <a:cs typeface="Instrument Sans Semi Bold" pitchFamily="34" charset="-120"/>
              </a:rPr>
              <a:t>Caption Templates</a:t>
            </a:r>
            <a:endParaRPr lang="en-US" sz="1850" dirty="0"/>
          </a:p>
        </p:txBody>
      </p:sp>
      <p:sp>
        <p:nvSpPr>
          <p:cNvPr id="15" name="Text 12"/>
          <p:cNvSpPr/>
          <p:nvPr/>
        </p:nvSpPr>
        <p:spPr>
          <a:xfrm>
            <a:off x="6357699" y="6725960"/>
            <a:ext cx="7401401" cy="552450"/>
          </a:xfrm>
          <a:prstGeom prst="rect">
            <a:avLst/>
          </a:prstGeom>
          <a:noFill/>
          <a:ln/>
        </p:spPr>
        <p:txBody>
          <a:bodyPr wrap="square" lIns="0" tIns="0" rIns="0" bIns="0" rtlCol="0" anchor="t"/>
          <a:lstStyle/>
          <a:p>
            <a:pPr algn="l" indent="0" marL="0">
              <a:lnSpc>
                <a:spcPts val="2150"/>
              </a:lnSpc>
              <a:buNone/>
            </a:pPr>
            <a:r>
              <a:rPr lang="en-US" sz="1450" dirty="0">
                <a:solidFill>
                  <a:srgbClr val="CFD0D8"/>
                </a:solidFill>
                <a:latin typeface="Instrument Sans Medium" pitchFamily="34" charset="0"/>
                <a:ea typeface="Instrument Sans Medium" pitchFamily="34" charset="-122"/>
                <a:cs typeface="Instrument Sans Medium" pitchFamily="34" charset="-120"/>
              </a:rPr>
              <a:t>Custom template system generates engaging captions with appropriate emojis and tone based on detected sentiment.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506498" y="481013"/>
            <a:ext cx="4209098" cy="526018"/>
          </a:xfrm>
          <a:prstGeom prst="rect">
            <a:avLst/>
          </a:prstGeom>
          <a:noFill/>
          <a:ln/>
        </p:spPr>
        <p:txBody>
          <a:bodyPr wrap="none" lIns="0" tIns="0" rIns="0" bIns="0" rtlCol="0" anchor="t"/>
          <a:lstStyle/>
          <a:p>
            <a:pPr algn="l" indent="0" marL="0">
              <a:lnSpc>
                <a:spcPts val="4100"/>
              </a:lnSpc>
              <a:buNone/>
            </a:pPr>
            <a:r>
              <a:rPr lang="en-US" sz="3300" dirty="0">
                <a:solidFill>
                  <a:srgbClr val="CBCCCE"/>
                </a:solidFill>
                <a:latin typeface="Instrument Sans Semi Bold" pitchFamily="34" charset="0"/>
                <a:ea typeface="Instrument Sans Semi Bold" pitchFamily="34" charset="-122"/>
                <a:cs typeface="Instrument Sans Semi Bold" pitchFamily="34" charset="-120"/>
              </a:rPr>
              <a:t>Getting Started</a:t>
            </a:r>
            <a:endParaRPr lang="en-US" sz="3300" dirty="0"/>
          </a:p>
        </p:txBody>
      </p:sp>
      <p:sp>
        <p:nvSpPr>
          <p:cNvPr id="3" name="Text 1"/>
          <p:cNvSpPr/>
          <p:nvPr/>
        </p:nvSpPr>
        <p:spPr>
          <a:xfrm>
            <a:off x="1506498" y="2853095"/>
            <a:ext cx="2104549" cy="263128"/>
          </a:xfrm>
          <a:prstGeom prst="rect">
            <a:avLst/>
          </a:prstGeom>
          <a:noFill/>
          <a:ln/>
        </p:spPr>
        <p:txBody>
          <a:bodyPr wrap="none" lIns="0" tIns="0" rIns="0" bIns="0" rtlCol="0" anchor="t"/>
          <a:lstStyle/>
          <a:p>
            <a:pPr algn="l" indent="0" marL="0">
              <a:lnSpc>
                <a:spcPts val="2050"/>
              </a:lnSpc>
              <a:buNone/>
            </a:pPr>
            <a:r>
              <a:rPr lang="en-US" sz="1650" dirty="0">
                <a:solidFill>
                  <a:srgbClr val="CBCCCE"/>
                </a:solidFill>
                <a:latin typeface="Instrument Sans Semi Bold" pitchFamily="34" charset="0"/>
                <a:ea typeface="Instrument Sans Semi Bold" pitchFamily="34" charset="-122"/>
                <a:cs typeface="Instrument Sans Semi Bold" pitchFamily="34" charset="-120"/>
              </a:rPr>
              <a:t>Installation Steps</a:t>
            </a:r>
            <a:endParaRPr lang="en-US" sz="1650" dirty="0"/>
          </a:p>
        </p:txBody>
      </p:sp>
      <p:sp>
        <p:nvSpPr>
          <p:cNvPr id="4" name="Text 2"/>
          <p:cNvSpPr/>
          <p:nvPr/>
        </p:nvSpPr>
        <p:spPr>
          <a:xfrm>
            <a:off x="1506498" y="3241119"/>
            <a:ext cx="7407354" cy="1347549"/>
          </a:xfrm>
          <a:prstGeom prst="rect">
            <a:avLst/>
          </a:prstGeom>
          <a:noFill/>
          <a:ln/>
        </p:spPr>
        <p:txBody>
          <a:bodyPr wrap="square" lIns="0" tIns="0" rIns="0" bIns="0" rtlCol="0" anchor="t"/>
          <a:lstStyle/>
          <a:p>
            <a:pPr algn="l" marL="342900" indent="-342900">
              <a:lnSpc>
                <a:spcPts val="1800"/>
              </a:lnSpc>
              <a:buSzPct val="100000"/>
              <a:buFont typeface="+mj-lt"/>
              <a:buAutoNum type="arabicPeriod" startAt="1"/>
            </a:pPr>
            <a:r>
              <a:rPr lang="en-US" sz="1300" dirty="0">
                <a:solidFill>
                  <a:srgbClr val="CFD0D8"/>
                </a:solidFill>
                <a:latin typeface="Instrument Sans Medium" pitchFamily="34" charset="0"/>
                <a:ea typeface="Instrument Sans Medium" pitchFamily="34" charset="-122"/>
                <a:cs typeface="Instrument Sans Medium" pitchFamily="34" charset="-120"/>
              </a:rPr>
              <a:t>Clone the repository to your local machine</a:t>
            </a:r>
            <a:endParaRPr lang="en-US" sz="1300" dirty="0"/>
          </a:p>
          <a:p>
            <a:pPr algn="l" marL="342900" indent="-342900">
              <a:lnSpc>
                <a:spcPts val="1800"/>
              </a:lnSpc>
              <a:buSzPct val="100000"/>
              <a:buFont typeface="+mj-lt"/>
              <a:buAutoNum type="arabicPeriod" startAt="2"/>
            </a:pPr>
            <a:r>
              <a:rPr lang="en-US" sz="1300" dirty="0">
                <a:solidFill>
                  <a:srgbClr val="CFD0D8"/>
                </a:solidFill>
                <a:latin typeface="Instrument Sans Medium" pitchFamily="34" charset="0"/>
                <a:ea typeface="Instrument Sans Medium" pitchFamily="34" charset="-122"/>
                <a:cs typeface="Instrument Sans Medium" pitchFamily="34" charset="-120"/>
              </a:rPr>
              <a:t>Create a virtual environment (recommended)</a:t>
            </a:r>
            <a:endParaRPr lang="en-US" sz="1300" dirty="0"/>
          </a:p>
          <a:p>
            <a:pPr algn="l" marL="342900" indent="-342900">
              <a:lnSpc>
                <a:spcPts val="1800"/>
              </a:lnSpc>
              <a:buSzPct val="100000"/>
              <a:buFont typeface="+mj-lt"/>
              <a:buAutoNum type="arabicPeriod" startAt="3"/>
            </a:pPr>
            <a:r>
              <a:rPr lang="en-US" sz="1300" dirty="0">
                <a:solidFill>
                  <a:srgbClr val="CFD0D8"/>
                </a:solidFill>
                <a:latin typeface="Instrument Sans Medium" pitchFamily="34" charset="0"/>
                <a:ea typeface="Instrument Sans Medium" pitchFamily="34" charset="-122"/>
                <a:cs typeface="Instrument Sans Medium" pitchFamily="34" charset="-120"/>
              </a:rPr>
              <a:t>Install dependencies from requirements.txt</a:t>
            </a:r>
            <a:endParaRPr lang="en-US" sz="1300" dirty="0"/>
          </a:p>
          <a:p>
            <a:pPr algn="l" marL="342900" indent="-342900">
              <a:lnSpc>
                <a:spcPts val="1800"/>
              </a:lnSpc>
              <a:buSzPct val="100000"/>
              <a:buFont typeface="+mj-lt"/>
              <a:buAutoNum type="arabicPeriod" startAt="4"/>
            </a:pPr>
            <a:r>
              <a:rPr lang="en-US" sz="1300" dirty="0">
                <a:solidFill>
                  <a:srgbClr val="CFD0D8"/>
                </a:solidFill>
                <a:latin typeface="Instrument Sans Medium" pitchFamily="34" charset="0"/>
                <a:ea typeface="Instrument Sans Medium" pitchFamily="34" charset="-122"/>
                <a:cs typeface="Instrument Sans Medium" pitchFamily="34" charset="-120"/>
              </a:rPr>
              <a:t>First-time setup downloads ~2GB of AI models</a:t>
            </a:r>
            <a:endParaRPr lang="en-US" sz="1300" dirty="0"/>
          </a:p>
          <a:p>
            <a:pPr algn="l" marL="342900" indent="-342900">
              <a:lnSpc>
                <a:spcPts val="1800"/>
              </a:lnSpc>
              <a:buSzPct val="100000"/>
              <a:buFont typeface="+mj-lt"/>
              <a:buAutoNum type="arabicPeriod" startAt="5"/>
            </a:pPr>
            <a:r>
              <a:rPr lang="en-US" sz="1300" dirty="0">
                <a:solidFill>
                  <a:srgbClr val="CFD0D8"/>
                </a:solidFill>
                <a:latin typeface="Instrument Sans Medium" pitchFamily="34" charset="0"/>
                <a:ea typeface="Instrument Sans Medium" pitchFamily="34" charset="-122"/>
                <a:cs typeface="Instrument Sans Medium" pitchFamily="34" charset="-120"/>
              </a:rPr>
              <a:t>Configure environment variables if needed</a:t>
            </a:r>
            <a:endParaRPr lang="en-US" sz="1300" dirty="0"/>
          </a:p>
        </p:txBody>
      </p:sp>
      <p:sp>
        <p:nvSpPr>
          <p:cNvPr id="5" name="Text 3"/>
          <p:cNvSpPr/>
          <p:nvPr/>
        </p:nvSpPr>
        <p:spPr>
          <a:xfrm>
            <a:off x="1506498" y="4713565"/>
            <a:ext cx="2183011" cy="263128"/>
          </a:xfrm>
          <a:prstGeom prst="rect">
            <a:avLst/>
          </a:prstGeom>
          <a:noFill/>
          <a:ln/>
        </p:spPr>
        <p:txBody>
          <a:bodyPr wrap="none" lIns="0" tIns="0" rIns="0" bIns="0" rtlCol="0" anchor="t"/>
          <a:lstStyle/>
          <a:p>
            <a:pPr algn="l" indent="0" marL="0">
              <a:lnSpc>
                <a:spcPts val="2050"/>
              </a:lnSpc>
              <a:buNone/>
            </a:pPr>
            <a:r>
              <a:rPr lang="en-US" sz="1650" dirty="0">
                <a:solidFill>
                  <a:srgbClr val="CBCCCE"/>
                </a:solidFill>
                <a:latin typeface="Instrument Sans Semi Bold" pitchFamily="34" charset="0"/>
                <a:ea typeface="Instrument Sans Semi Bold" pitchFamily="34" charset="-122"/>
                <a:cs typeface="Instrument Sans Semi Bold" pitchFamily="34" charset="-120"/>
              </a:rPr>
              <a:t>System Requirements</a:t>
            </a:r>
            <a:endParaRPr lang="en-US" sz="1650" dirty="0"/>
          </a:p>
        </p:txBody>
      </p:sp>
      <p:sp>
        <p:nvSpPr>
          <p:cNvPr id="6" name="Text 4"/>
          <p:cNvSpPr/>
          <p:nvPr/>
        </p:nvSpPr>
        <p:spPr>
          <a:xfrm>
            <a:off x="1506498" y="5101590"/>
            <a:ext cx="7407354" cy="1069300"/>
          </a:xfrm>
          <a:prstGeom prst="rect">
            <a:avLst/>
          </a:prstGeom>
          <a:noFill/>
          <a:ln/>
        </p:spPr>
        <p:txBody>
          <a:bodyPr wrap="square" lIns="0" tIns="0" rIns="0" bIns="0" rtlCol="0" anchor="t"/>
          <a:lstStyle/>
          <a:p>
            <a:pPr algn="l" marL="342900" indent="-342900">
              <a:lnSpc>
                <a:spcPts val="1800"/>
              </a:lnSpc>
              <a:buSzPct val="100000"/>
              <a:buChar char="•"/>
            </a:pPr>
            <a:r>
              <a:rPr lang="en-US" sz="1300" dirty="0">
                <a:solidFill>
                  <a:srgbClr val="CFD0D8"/>
                </a:solidFill>
                <a:latin typeface="Instrument Sans Medium" pitchFamily="34" charset="0"/>
                <a:ea typeface="Instrument Sans Medium" pitchFamily="34" charset="-122"/>
                <a:cs typeface="Instrument Sans Medium" pitchFamily="34" charset="-120"/>
              </a:rPr>
              <a:t>Python 3.10 or higher</a:t>
            </a:r>
            <a:endParaRPr lang="en-US" sz="1300" dirty="0"/>
          </a:p>
          <a:p>
            <a:pPr algn="l" marL="342900" indent="-342900">
              <a:lnSpc>
                <a:spcPts val="1800"/>
              </a:lnSpc>
              <a:buSzPct val="100000"/>
              <a:buChar char="•"/>
            </a:pPr>
            <a:r>
              <a:rPr lang="en-US" sz="1300" dirty="0">
                <a:solidFill>
                  <a:srgbClr val="CFD0D8"/>
                </a:solidFill>
                <a:latin typeface="Instrument Sans Medium" pitchFamily="34" charset="0"/>
                <a:ea typeface="Instrument Sans Medium" pitchFamily="34" charset="-122"/>
                <a:cs typeface="Instrument Sans Medium" pitchFamily="34" charset="-120"/>
              </a:rPr>
              <a:t>4GB+ RAM for AI models</a:t>
            </a:r>
            <a:endParaRPr lang="en-US" sz="1300" dirty="0"/>
          </a:p>
          <a:p>
            <a:pPr algn="l" marL="342900" indent="-342900">
              <a:lnSpc>
                <a:spcPts val="1800"/>
              </a:lnSpc>
              <a:buSzPct val="100000"/>
              <a:buChar char="•"/>
            </a:pPr>
            <a:r>
              <a:rPr lang="en-US" sz="1300" dirty="0">
                <a:solidFill>
                  <a:srgbClr val="CFD0D8"/>
                </a:solidFill>
                <a:latin typeface="Instrument Sans Medium" pitchFamily="34" charset="0"/>
                <a:ea typeface="Instrument Sans Medium" pitchFamily="34" charset="-122"/>
                <a:cs typeface="Instrument Sans Medium" pitchFamily="34" charset="-120"/>
              </a:rPr>
              <a:t>pip package manager</a:t>
            </a:r>
            <a:endParaRPr lang="en-US" sz="1300" dirty="0"/>
          </a:p>
          <a:p>
            <a:pPr algn="l" marL="342900" indent="-342900">
              <a:lnSpc>
                <a:spcPts val="1800"/>
              </a:lnSpc>
              <a:buSzPct val="100000"/>
              <a:buChar char="•"/>
            </a:pPr>
            <a:r>
              <a:rPr lang="en-US" sz="1300" dirty="0">
                <a:solidFill>
                  <a:srgbClr val="CFD0D8"/>
                </a:solidFill>
                <a:latin typeface="Instrument Sans Medium" pitchFamily="34" charset="0"/>
                <a:ea typeface="Instrument Sans Medium" pitchFamily="34" charset="-122"/>
                <a:cs typeface="Instrument Sans Medium" pitchFamily="34" charset="-120"/>
              </a:rPr>
              <a:t>Internet for first-time model download</a:t>
            </a:r>
            <a:endParaRPr lang="en-US" sz="1300" dirty="0"/>
          </a:p>
        </p:txBody>
      </p:sp>
      <p:pic>
        <p:nvPicPr>
          <p:cNvPr id="7" name="Image 0" descr="preencoded.png">    </p:cNvPr>
          <p:cNvPicPr>
            <a:picLocks noChangeAspect="1"/>
          </p:cNvPicPr>
          <p:nvPr/>
        </p:nvPicPr>
        <p:blipFill>
          <a:blip r:embed="rId1"/>
          <a:stretch>
            <a:fillRect/>
          </a:stretch>
        </p:blipFill>
        <p:spPr>
          <a:xfrm>
            <a:off x="9332238" y="1334929"/>
            <a:ext cx="3799046" cy="5065395"/>
          </a:xfrm>
          <a:prstGeom prst="rect">
            <a:avLst/>
          </a:prstGeom>
        </p:spPr>
      </p:pic>
      <p:sp>
        <p:nvSpPr>
          <p:cNvPr id="8" name="Shape 5"/>
          <p:cNvSpPr/>
          <p:nvPr/>
        </p:nvSpPr>
        <p:spPr>
          <a:xfrm>
            <a:off x="9332238" y="6540818"/>
            <a:ext cx="3799046" cy="1067157"/>
          </a:xfrm>
          <a:prstGeom prst="roundRect">
            <a:avLst>
              <a:gd name="adj" fmla="val 6626"/>
            </a:avLst>
          </a:prstGeom>
          <a:solidFill>
            <a:srgbClr val="252528"/>
          </a:solidFill>
          <a:ln/>
        </p:spPr>
      </p:sp>
      <p:pic>
        <p:nvPicPr>
          <p:cNvPr id="9" name="Image 1" descr="preencoded.png">    </p:cNvPr>
          <p:cNvPicPr>
            <a:picLocks noChangeAspect="1"/>
          </p:cNvPicPr>
          <p:nvPr/>
        </p:nvPicPr>
        <p:blipFill>
          <a:blip r:embed="rId2"/>
          <a:stretch>
            <a:fillRect/>
          </a:stretch>
        </p:blipFill>
        <p:spPr>
          <a:xfrm>
            <a:off x="9500592" y="6771442"/>
            <a:ext cx="210383" cy="168354"/>
          </a:xfrm>
          <a:prstGeom prst="rect">
            <a:avLst/>
          </a:prstGeom>
        </p:spPr>
      </p:pic>
      <p:sp>
        <p:nvSpPr>
          <p:cNvPr id="10" name="Text 6"/>
          <p:cNvSpPr/>
          <p:nvPr/>
        </p:nvSpPr>
        <p:spPr>
          <a:xfrm>
            <a:off x="9879330" y="6707743"/>
            <a:ext cx="3083600" cy="703659"/>
          </a:xfrm>
          <a:prstGeom prst="rect">
            <a:avLst/>
          </a:prstGeom>
          <a:noFill/>
          <a:ln/>
        </p:spPr>
        <p:txBody>
          <a:bodyPr wrap="square" lIns="0" tIns="0" rIns="0" bIns="0" rtlCol="0" anchor="t"/>
          <a:lstStyle/>
          <a:p>
            <a:pPr algn="l" indent="0" marL="0">
              <a:lnSpc>
                <a:spcPts val="1800"/>
              </a:lnSpc>
              <a:buNone/>
            </a:pPr>
            <a:r>
              <a:rPr lang="en-US" sz="1300" b="1" dirty="0">
                <a:solidFill>
                  <a:srgbClr val="FFFFFF"/>
                </a:solidFill>
                <a:latin typeface="Instrument Sans Medium" pitchFamily="34" charset="0"/>
                <a:ea typeface="Instrument Sans Medium" pitchFamily="34" charset="-122"/>
                <a:cs typeface="Instrument Sans Medium" pitchFamily="34" charset="-120"/>
              </a:rPr>
              <a:t>Pro Tip:</a:t>
            </a:r>
            <a:pPr algn="l" indent="0" marL="0">
              <a:lnSpc>
                <a:spcPts val="1800"/>
              </a:lnSpc>
              <a:buNone/>
            </a:pPr>
            <a:r>
              <a:rPr lang="en-US" sz="1300" dirty="0">
                <a:solidFill>
                  <a:srgbClr val="FFFFFF"/>
                </a:solidFill>
                <a:latin typeface="Instrument Sans Medium" pitchFamily="34" charset="0"/>
                <a:ea typeface="Instrument Sans Medium" pitchFamily="34" charset="-122"/>
                <a:cs typeface="Instrument Sans Medium" pitchFamily="34" charset="-120"/>
              </a:rPr>
              <a:t> Models run locally—no API keys required! All processing happens on your machine for privacy and speed.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2828" y="770215"/>
            <a:ext cx="5213747" cy="645438"/>
          </a:xfrm>
          <a:prstGeom prst="rect">
            <a:avLst/>
          </a:prstGeom>
          <a:noFill/>
          <a:ln/>
        </p:spPr>
        <p:txBody>
          <a:bodyPr wrap="none" lIns="0" tIns="0" rIns="0" bIns="0" rtlCol="0" anchor="t"/>
          <a:lstStyle/>
          <a:p>
            <a:pPr algn="l" indent="0" marL="0">
              <a:lnSpc>
                <a:spcPts val="5050"/>
              </a:lnSpc>
              <a:buNone/>
            </a:pPr>
            <a:r>
              <a:rPr lang="en-US" sz="4050" dirty="0">
                <a:solidFill>
                  <a:srgbClr val="CBCCCE"/>
                </a:solidFill>
                <a:latin typeface="Instrument Sans Semi Bold" pitchFamily="34" charset="0"/>
                <a:ea typeface="Instrument Sans Semi Bold" pitchFamily="34" charset="-122"/>
                <a:cs typeface="Instrument Sans Semi Bold" pitchFamily="34" charset="-120"/>
              </a:rPr>
              <a:t>Using the Application</a:t>
            </a:r>
            <a:endParaRPr lang="en-US" sz="4050" dirty="0"/>
          </a:p>
        </p:txBody>
      </p:sp>
      <p:sp>
        <p:nvSpPr>
          <p:cNvPr id="4" name="Shape 1"/>
          <p:cNvSpPr/>
          <p:nvPr/>
        </p:nvSpPr>
        <p:spPr>
          <a:xfrm>
            <a:off x="929402" y="2007513"/>
            <a:ext cx="206454" cy="929402"/>
          </a:xfrm>
          <a:prstGeom prst="roundRect">
            <a:avLst>
              <a:gd name="adj" fmla="val 42021"/>
            </a:avLst>
          </a:prstGeom>
          <a:solidFill>
            <a:srgbClr val="3D3D42"/>
          </a:solidFill>
          <a:ln w="7620">
            <a:solidFill>
              <a:srgbClr val="56565B"/>
            </a:solidFill>
            <a:prstDash val="solid"/>
          </a:ln>
        </p:spPr>
      </p:sp>
      <p:sp>
        <p:nvSpPr>
          <p:cNvPr id="5" name="Shape 2"/>
          <p:cNvSpPr/>
          <p:nvPr/>
        </p:nvSpPr>
        <p:spPr>
          <a:xfrm>
            <a:off x="722828" y="1871901"/>
            <a:ext cx="619601" cy="619601"/>
          </a:xfrm>
          <a:prstGeom prst="roundRect">
            <a:avLst>
              <a:gd name="adj" fmla="val 73789"/>
            </a:avLst>
          </a:prstGeom>
          <a:solidFill>
            <a:srgbClr val="3D3D42"/>
          </a:solidFill>
          <a:ln w="7620">
            <a:solidFill>
              <a:srgbClr val="56565B"/>
            </a:solidFill>
            <a:prstDash val="solid"/>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7729" y="2026801"/>
            <a:ext cx="309801" cy="309801"/>
          </a:xfrm>
          <a:prstGeom prst="rect">
            <a:avLst/>
          </a:prstGeom>
        </p:spPr>
      </p:pic>
      <p:sp>
        <p:nvSpPr>
          <p:cNvPr id="7" name="Text 3"/>
          <p:cNvSpPr/>
          <p:nvPr/>
        </p:nvSpPr>
        <p:spPr>
          <a:xfrm>
            <a:off x="1530429" y="1904167"/>
            <a:ext cx="2581870" cy="3227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Upload Image</a:t>
            </a:r>
            <a:endParaRPr lang="en-US" sz="2000" dirty="0"/>
          </a:p>
        </p:txBody>
      </p:sp>
      <p:sp>
        <p:nvSpPr>
          <p:cNvPr id="8" name="Text 4"/>
          <p:cNvSpPr/>
          <p:nvPr/>
        </p:nvSpPr>
        <p:spPr>
          <a:xfrm>
            <a:off x="1530429" y="2339697"/>
            <a:ext cx="6890742" cy="315635"/>
          </a:xfrm>
          <a:prstGeom prst="rect">
            <a:avLst/>
          </a:prstGeom>
          <a:noFill/>
          <a:ln/>
        </p:spPr>
        <p:txBody>
          <a:bodyPr wrap="none" lIns="0" tIns="0" rIns="0" bIns="0" rtlCol="0" anchor="t"/>
          <a:lstStyle/>
          <a:p>
            <a:pPr algn="l" indent="0" marL="0">
              <a:lnSpc>
                <a:spcPts val="245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Click "Browse files" and select an image (JPG, PNG, WEBP)</a:t>
            </a:r>
            <a:endParaRPr lang="en-US" sz="1600" dirty="0"/>
          </a:p>
        </p:txBody>
      </p:sp>
      <p:sp>
        <p:nvSpPr>
          <p:cNvPr id="9" name="Shape 5"/>
          <p:cNvSpPr/>
          <p:nvPr/>
        </p:nvSpPr>
        <p:spPr>
          <a:xfrm>
            <a:off x="1239203" y="3434834"/>
            <a:ext cx="206454" cy="1169789"/>
          </a:xfrm>
          <a:prstGeom prst="roundRect">
            <a:avLst>
              <a:gd name="adj" fmla="val 42021"/>
            </a:avLst>
          </a:prstGeom>
          <a:solidFill>
            <a:srgbClr val="3D3D42"/>
          </a:solidFill>
          <a:ln w="7620">
            <a:solidFill>
              <a:srgbClr val="56565B"/>
            </a:solidFill>
            <a:prstDash val="solid"/>
          </a:ln>
        </p:spPr>
      </p:sp>
      <p:sp>
        <p:nvSpPr>
          <p:cNvPr id="10" name="Shape 6"/>
          <p:cNvSpPr/>
          <p:nvPr/>
        </p:nvSpPr>
        <p:spPr>
          <a:xfrm>
            <a:off x="1032629" y="3299222"/>
            <a:ext cx="619601" cy="619601"/>
          </a:xfrm>
          <a:prstGeom prst="roundRect">
            <a:avLst>
              <a:gd name="adj" fmla="val 73789"/>
            </a:avLst>
          </a:prstGeom>
          <a:solidFill>
            <a:srgbClr val="3D3D42"/>
          </a:solidFill>
          <a:ln w="7620">
            <a:solidFill>
              <a:srgbClr val="56565B"/>
            </a:solidFill>
            <a:prstDash val="solid"/>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7529" y="3454122"/>
            <a:ext cx="309801" cy="309801"/>
          </a:xfrm>
          <a:prstGeom prst="rect">
            <a:avLst/>
          </a:prstGeom>
        </p:spPr>
      </p:pic>
      <p:sp>
        <p:nvSpPr>
          <p:cNvPr id="12" name="Text 7"/>
          <p:cNvSpPr/>
          <p:nvPr/>
        </p:nvSpPr>
        <p:spPr>
          <a:xfrm>
            <a:off x="1840230" y="3331488"/>
            <a:ext cx="2581870" cy="3227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Configure Settings</a:t>
            </a:r>
            <a:endParaRPr lang="en-US" sz="2000" dirty="0"/>
          </a:p>
        </p:txBody>
      </p:sp>
      <p:sp>
        <p:nvSpPr>
          <p:cNvPr id="13" name="Text 8"/>
          <p:cNvSpPr/>
          <p:nvPr/>
        </p:nvSpPr>
        <p:spPr>
          <a:xfrm>
            <a:off x="1840230" y="3767018"/>
            <a:ext cx="6580942" cy="631269"/>
          </a:xfrm>
          <a:prstGeom prst="rect">
            <a:avLst/>
          </a:prstGeom>
          <a:noFill/>
          <a:ln/>
        </p:spPr>
        <p:txBody>
          <a:bodyPr wrap="square" lIns="0" tIns="0" rIns="0" bIns="0" rtlCol="0" anchor="t"/>
          <a:lstStyle/>
          <a:p>
            <a:pPr algn="l" indent="0" marL="0">
              <a:lnSpc>
                <a:spcPts val="245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Choose caption style, platform, and number of hashtags in the sidebar</a:t>
            </a:r>
            <a:endParaRPr lang="en-US" sz="1600" dirty="0"/>
          </a:p>
        </p:txBody>
      </p:sp>
      <p:sp>
        <p:nvSpPr>
          <p:cNvPr id="14" name="Shape 9"/>
          <p:cNvSpPr/>
          <p:nvPr/>
        </p:nvSpPr>
        <p:spPr>
          <a:xfrm>
            <a:off x="1549003" y="5102543"/>
            <a:ext cx="206454" cy="929402"/>
          </a:xfrm>
          <a:prstGeom prst="roundRect">
            <a:avLst>
              <a:gd name="adj" fmla="val 42021"/>
            </a:avLst>
          </a:prstGeom>
          <a:solidFill>
            <a:srgbClr val="3D3D42"/>
          </a:solidFill>
          <a:ln w="7620">
            <a:solidFill>
              <a:srgbClr val="56565B"/>
            </a:solidFill>
            <a:prstDash val="solid"/>
          </a:ln>
        </p:spPr>
      </p:sp>
      <p:sp>
        <p:nvSpPr>
          <p:cNvPr id="15" name="Shape 10"/>
          <p:cNvSpPr/>
          <p:nvPr/>
        </p:nvSpPr>
        <p:spPr>
          <a:xfrm>
            <a:off x="1342430" y="4966930"/>
            <a:ext cx="619601" cy="619601"/>
          </a:xfrm>
          <a:prstGeom prst="roundRect">
            <a:avLst>
              <a:gd name="adj" fmla="val 73789"/>
            </a:avLst>
          </a:prstGeom>
          <a:solidFill>
            <a:srgbClr val="3D3D42"/>
          </a:solidFill>
          <a:ln w="7620">
            <a:solidFill>
              <a:srgbClr val="56565B"/>
            </a:solidFill>
            <a:prstDash val="solid"/>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97330" y="5121831"/>
            <a:ext cx="309801" cy="309801"/>
          </a:xfrm>
          <a:prstGeom prst="rect">
            <a:avLst/>
          </a:prstGeom>
        </p:spPr>
      </p:pic>
      <p:sp>
        <p:nvSpPr>
          <p:cNvPr id="17" name="Text 11"/>
          <p:cNvSpPr/>
          <p:nvPr/>
        </p:nvSpPr>
        <p:spPr>
          <a:xfrm>
            <a:off x="2150031" y="4999196"/>
            <a:ext cx="2581870" cy="3227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Generate</a:t>
            </a:r>
            <a:endParaRPr lang="en-US" sz="2000" dirty="0"/>
          </a:p>
        </p:txBody>
      </p:sp>
      <p:sp>
        <p:nvSpPr>
          <p:cNvPr id="18" name="Text 12"/>
          <p:cNvSpPr/>
          <p:nvPr/>
        </p:nvSpPr>
        <p:spPr>
          <a:xfrm>
            <a:off x="2150031" y="5434727"/>
            <a:ext cx="6271141" cy="323255"/>
          </a:xfrm>
          <a:prstGeom prst="rect">
            <a:avLst/>
          </a:prstGeom>
          <a:noFill/>
          <a:ln/>
        </p:spPr>
        <p:txBody>
          <a:bodyPr wrap="none" lIns="0" tIns="0" rIns="0" bIns="0" rtlCol="0" anchor="t"/>
          <a:lstStyle/>
          <a:p>
            <a:pPr algn="l" indent="0" marL="0">
              <a:lnSpc>
                <a:spcPts val="245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Click "</a:t>
            </a:r>
            <a:pPr algn="l" indent="0" marL="0">
              <a:lnSpc>
                <a:spcPts val="2450"/>
              </a:lnSpc>
              <a:buNone/>
            </a:pPr>
            <a:r>
              <a:rPr lang="en-US" sz="1600" dirty="0">
                <a:solidFill>
                  <a:srgbClr val="000000"/>
                </a:solidFill>
                <a:latin typeface="Instrument Sans Medium" pitchFamily="34" charset="0"/>
                <a:ea typeface="Instrument Sans Medium" pitchFamily="34" charset="-122"/>
                <a:cs typeface="Instrument Sans Medium" pitchFamily="34" charset="-120"/>
              </a:rPr>
              <a:t>🚀</a:t>
            </a:r>
            <a:pPr algn="l" indent="0" marL="0">
              <a:lnSpc>
                <a:spcPts val="245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 Generate Caption &amp; Hashtags"</a:t>
            </a:r>
            <a:endParaRPr lang="en-US" sz="1600" dirty="0"/>
          </a:p>
        </p:txBody>
      </p:sp>
      <p:sp>
        <p:nvSpPr>
          <p:cNvPr id="19" name="Shape 13"/>
          <p:cNvSpPr/>
          <p:nvPr/>
        </p:nvSpPr>
        <p:spPr>
          <a:xfrm>
            <a:off x="1858804" y="6529864"/>
            <a:ext cx="206454" cy="929402"/>
          </a:xfrm>
          <a:prstGeom prst="roundRect">
            <a:avLst>
              <a:gd name="adj" fmla="val 42021"/>
            </a:avLst>
          </a:prstGeom>
          <a:solidFill>
            <a:srgbClr val="3D3D42"/>
          </a:solidFill>
          <a:ln w="7620">
            <a:solidFill>
              <a:srgbClr val="56565B"/>
            </a:solidFill>
            <a:prstDash val="solid"/>
          </a:ln>
        </p:spPr>
      </p:sp>
      <p:sp>
        <p:nvSpPr>
          <p:cNvPr id="20" name="Shape 14"/>
          <p:cNvSpPr/>
          <p:nvPr/>
        </p:nvSpPr>
        <p:spPr>
          <a:xfrm>
            <a:off x="1652230" y="6394252"/>
            <a:ext cx="619601" cy="619601"/>
          </a:xfrm>
          <a:prstGeom prst="roundRect">
            <a:avLst>
              <a:gd name="adj" fmla="val 73789"/>
            </a:avLst>
          </a:prstGeom>
          <a:solidFill>
            <a:srgbClr val="3D3D42"/>
          </a:solidFill>
          <a:ln w="7620">
            <a:solidFill>
              <a:srgbClr val="56565B"/>
            </a:solidFill>
            <a:prstDash val="solid"/>
          </a:ln>
        </p:spPr>
      </p:sp>
      <p:pic>
        <p:nvPicPr>
          <p:cNvPr id="2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07131" y="6549152"/>
            <a:ext cx="309801" cy="309801"/>
          </a:xfrm>
          <a:prstGeom prst="rect">
            <a:avLst/>
          </a:prstGeom>
        </p:spPr>
      </p:pic>
      <p:sp>
        <p:nvSpPr>
          <p:cNvPr id="22" name="Text 15"/>
          <p:cNvSpPr/>
          <p:nvPr/>
        </p:nvSpPr>
        <p:spPr>
          <a:xfrm>
            <a:off x="2459831" y="6426518"/>
            <a:ext cx="2581870" cy="3227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Copy &amp; Share</a:t>
            </a:r>
            <a:endParaRPr lang="en-US" sz="2000" dirty="0"/>
          </a:p>
        </p:txBody>
      </p:sp>
      <p:sp>
        <p:nvSpPr>
          <p:cNvPr id="23" name="Text 16"/>
          <p:cNvSpPr/>
          <p:nvPr/>
        </p:nvSpPr>
        <p:spPr>
          <a:xfrm>
            <a:off x="2459831" y="6862048"/>
            <a:ext cx="5961340" cy="315635"/>
          </a:xfrm>
          <a:prstGeom prst="rect">
            <a:avLst/>
          </a:prstGeom>
          <a:noFill/>
          <a:ln/>
        </p:spPr>
        <p:txBody>
          <a:bodyPr wrap="none" lIns="0" tIns="0" rIns="0" bIns="0" rtlCol="0" anchor="t"/>
          <a:lstStyle/>
          <a:p>
            <a:pPr algn="l" indent="0" marL="0">
              <a:lnSpc>
                <a:spcPts val="245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Copy the generated content and paste it on your social media!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93388"/>
            <a:ext cx="7637264"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Performance &amp; Optimization</a:t>
            </a:r>
            <a:endParaRPr lang="en-US" sz="4450" dirty="0"/>
          </a:p>
        </p:txBody>
      </p:sp>
      <p:sp>
        <p:nvSpPr>
          <p:cNvPr id="3" name="Text 1"/>
          <p:cNvSpPr/>
          <p:nvPr/>
        </p:nvSpPr>
        <p:spPr>
          <a:xfrm>
            <a:off x="793790" y="2669143"/>
            <a:ext cx="3048000" cy="748427"/>
          </a:xfrm>
          <a:prstGeom prst="rect">
            <a:avLst/>
          </a:prstGeom>
          <a:noFill/>
          <a:ln/>
        </p:spPr>
        <p:txBody>
          <a:bodyPr wrap="none" lIns="0" tIns="0" rIns="0" bIns="0" rtlCol="0" anchor="t"/>
          <a:lstStyle/>
          <a:p>
            <a:pPr algn="ctr" indent="0" marL="0">
              <a:lnSpc>
                <a:spcPts val="5850"/>
              </a:lnSpc>
              <a:buNone/>
            </a:pPr>
            <a:r>
              <a:rPr lang="en-US" sz="5850" dirty="0">
                <a:solidFill>
                  <a:srgbClr val="CFD0D8"/>
                </a:solidFill>
                <a:latin typeface="Instrument Sans Semi Bold" pitchFamily="34" charset="0"/>
                <a:ea typeface="Instrument Sans Semi Bold" pitchFamily="34" charset="-122"/>
                <a:cs typeface="Instrument Sans Semi Bold" pitchFamily="34" charset="-120"/>
              </a:rPr>
              <a:t>30-60s</a:t>
            </a:r>
            <a:endParaRPr lang="en-US" sz="5850" dirty="0"/>
          </a:p>
        </p:txBody>
      </p:sp>
      <p:sp>
        <p:nvSpPr>
          <p:cNvPr id="4" name="Text 2"/>
          <p:cNvSpPr/>
          <p:nvPr/>
        </p:nvSpPr>
        <p:spPr>
          <a:xfrm>
            <a:off x="900113" y="370093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First Run</a:t>
            </a:r>
            <a:endParaRPr lang="en-US" sz="2200" dirty="0"/>
          </a:p>
        </p:txBody>
      </p:sp>
      <p:sp>
        <p:nvSpPr>
          <p:cNvPr id="5" name="Text 3"/>
          <p:cNvSpPr/>
          <p:nvPr/>
        </p:nvSpPr>
        <p:spPr>
          <a:xfrm>
            <a:off x="793790" y="4191357"/>
            <a:ext cx="3048000" cy="362903"/>
          </a:xfrm>
          <a:prstGeom prst="rect">
            <a:avLst/>
          </a:prstGeom>
          <a:noFill/>
          <a:ln/>
        </p:spPr>
        <p:txBody>
          <a:bodyPr wrap="none" lIns="0" tIns="0" rIns="0" bIns="0" rtlCol="0" anchor="t"/>
          <a:lstStyle/>
          <a:p>
            <a:pPr algn="ctr"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Model loading time</a:t>
            </a:r>
            <a:endParaRPr lang="en-US" sz="1750" dirty="0"/>
          </a:p>
        </p:txBody>
      </p:sp>
      <p:sp>
        <p:nvSpPr>
          <p:cNvPr id="6" name="Text 4"/>
          <p:cNvSpPr/>
          <p:nvPr/>
        </p:nvSpPr>
        <p:spPr>
          <a:xfrm>
            <a:off x="4125278" y="2669143"/>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CFD0D8"/>
                </a:solidFill>
                <a:latin typeface="Instrument Sans Semi Bold" pitchFamily="34" charset="0"/>
                <a:ea typeface="Instrument Sans Semi Bold" pitchFamily="34" charset="-122"/>
                <a:cs typeface="Instrument Sans Semi Bold" pitchFamily="34" charset="-120"/>
              </a:rPr>
              <a:t>3-5s</a:t>
            </a:r>
            <a:endParaRPr lang="en-US" sz="5850" dirty="0"/>
          </a:p>
        </p:txBody>
      </p:sp>
      <p:sp>
        <p:nvSpPr>
          <p:cNvPr id="7" name="Text 5"/>
          <p:cNvSpPr/>
          <p:nvPr/>
        </p:nvSpPr>
        <p:spPr>
          <a:xfrm>
            <a:off x="4231719" y="370093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Subsequent Runs</a:t>
            </a:r>
            <a:endParaRPr lang="en-US" sz="2200" dirty="0"/>
          </a:p>
        </p:txBody>
      </p:sp>
      <p:sp>
        <p:nvSpPr>
          <p:cNvPr id="8" name="Text 6"/>
          <p:cNvSpPr/>
          <p:nvPr/>
        </p:nvSpPr>
        <p:spPr>
          <a:xfrm>
            <a:off x="4125278" y="4191357"/>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Per image processing</a:t>
            </a:r>
            <a:endParaRPr lang="en-US" sz="1750" dirty="0"/>
          </a:p>
        </p:txBody>
      </p:sp>
      <p:sp>
        <p:nvSpPr>
          <p:cNvPr id="9" name="Text 7"/>
          <p:cNvSpPr/>
          <p:nvPr/>
        </p:nvSpPr>
        <p:spPr>
          <a:xfrm>
            <a:off x="7456884" y="2669143"/>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CFD0D8"/>
                </a:solidFill>
                <a:latin typeface="Instrument Sans Semi Bold" pitchFamily="34" charset="0"/>
                <a:ea typeface="Instrument Sans Semi Bold" pitchFamily="34" charset="-122"/>
                <a:cs typeface="Instrument Sans Semi Bold" pitchFamily="34" charset="-120"/>
              </a:rPr>
              <a:t>2GB</a:t>
            </a:r>
            <a:endParaRPr lang="en-US" sz="5850" dirty="0"/>
          </a:p>
        </p:txBody>
      </p:sp>
      <p:sp>
        <p:nvSpPr>
          <p:cNvPr id="10" name="Text 8"/>
          <p:cNvSpPr/>
          <p:nvPr/>
        </p:nvSpPr>
        <p:spPr>
          <a:xfrm>
            <a:off x="7563326" y="370093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Model Size</a:t>
            </a:r>
            <a:endParaRPr lang="en-US" sz="2200" dirty="0"/>
          </a:p>
        </p:txBody>
      </p:sp>
      <p:sp>
        <p:nvSpPr>
          <p:cNvPr id="11" name="Text 9"/>
          <p:cNvSpPr/>
          <p:nvPr/>
        </p:nvSpPr>
        <p:spPr>
          <a:xfrm>
            <a:off x="7456884" y="4191357"/>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Cached locally</a:t>
            </a:r>
            <a:endParaRPr lang="en-US" sz="1750" dirty="0"/>
          </a:p>
        </p:txBody>
      </p:sp>
      <p:sp>
        <p:nvSpPr>
          <p:cNvPr id="12" name="Text 10"/>
          <p:cNvSpPr/>
          <p:nvPr/>
        </p:nvSpPr>
        <p:spPr>
          <a:xfrm>
            <a:off x="10788491" y="2669143"/>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CFD0D8"/>
                </a:solidFill>
                <a:latin typeface="Instrument Sans Semi Bold" pitchFamily="34" charset="0"/>
                <a:ea typeface="Instrument Sans Semi Bold" pitchFamily="34" charset="-122"/>
                <a:cs typeface="Instrument Sans Semi Bold" pitchFamily="34" charset="-120"/>
              </a:rPr>
              <a:t>2-4GB</a:t>
            </a:r>
            <a:endParaRPr lang="en-US" sz="5850" dirty="0"/>
          </a:p>
        </p:txBody>
      </p:sp>
      <p:sp>
        <p:nvSpPr>
          <p:cNvPr id="13" name="Text 11"/>
          <p:cNvSpPr/>
          <p:nvPr/>
        </p:nvSpPr>
        <p:spPr>
          <a:xfrm>
            <a:off x="10894933" y="370093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RAM Usage</a:t>
            </a:r>
            <a:endParaRPr lang="en-US" sz="2200" dirty="0"/>
          </a:p>
        </p:txBody>
      </p:sp>
      <p:sp>
        <p:nvSpPr>
          <p:cNvPr id="14" name="Text 12"/>
          <p:cNvSpPr/>
          <p:nvPr/>
        </p:nvSpPr>
        <p:spPr>
          <a:xfrm>
            <a:off x="10788491" y="4191357"/>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During processing</a:t>
            </a:r>
            <a:endParaRPr lang="en-US" sz="1750" dirty="0"/>
          </a:p>
        </p:txBody>
      </p:sp>
      <p:sp>
        <p:nvSpPr>
          <p:cNvPr id="15" name="Text 13"/>
          <p:cNvSpPr/>
          <p:nvPr/>
        </p:nvSpPr>
        <p:spPr>
          <a:xfrm>
            <a:off x="793790" y="48944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Optimization Tips</a:t>
            </a:r>
            <a:endParaRPr lang="en-US" sz="2200" dirty="0"/>
          </a:p>
        </p:txBody>
      </p:sp>
      <p:sp>
        <p:nvSpPr>
          <p:cNvPr id="16" name="Text 14"/>
          <p:cNvSpPr/>
          <p:nvPr/>
        </p:nvSpPr>
        <p:spPr>
          <a:xfrm>
            <a:off x="793790" y="5588913"/>
            <a:ext cx="13042821"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Use GPU if available (change device in config/settings.py)</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Enable caching (enabled by default)</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Reduce image size before upload</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5216" y="645319"/>
            <a:ext cx="5773460" cy="692110"/>
          </a:xfrm>
          <a:prstGeom prst="rect">
            <a:avLst/>
          </a:prstGeom>
          <a:noFill/>
          <a:ln/>
        </p:spPr>
        <p:txBody>
          <a:bodyPr wrap="none" lIns="0" tIns="0" rIns="0" bIns="0" rtlCol="0" anchor="t"/>
          <a:lstStyle/>
          <a:p>
            <a:pPr algn="l" indent="0" marL="0">
              <a:lnSpc>
                <a:spcPts val="5450"/>
              </a:lnSpc>
              <a:buNone/>
            </a:pPr>
            <a:r>
              <a:rPr lang="en-US" sz="4350" dirty="0">
                <a:solidFill>
                  <a:srgbClr val="CBCCCE"/>
                </a:solidFill>
                <a:latin typeface="Instrument Sans Semi Bold" pitchFamily="34" charset="0"/>
                <a:ea typeface="Instrument Sans Semi Bold" pitchFamily="34" charset="-122"/>
                <a:cs typeface="Instrument Sans Semi Bold" pitchFamily="34" charset="-120"/>
              </a:rPr>
              <a:t>Future Enhancements</a:t>
            </a:r>
            <a:endParaRPr lang="en-US" sz="43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5216" y="1769983"/>
            <a:ext cx="553641" cy="553641"/>
          </a:xfrm>
          <a:prstGeom prst="rect">
            <a:avLst/>
          </a:prstGeom>
        </p:spPr>
      </p:pic>
      <p:sp>
        <p:nvSpPr>
          <p:cNvPr id="4" name="Text 1"/>
          <p:cNvSpPr/>
          <p:nvPr/>
        </p:nvSpPr>
        <p:spPr>
          <a:xfrm>
            <a:off x="775216" y="2593896"/>
            <a:ext cx="3298865" cy="345996"/>
          </a:xfrm>
          <a:prstGeom prst="rect">
            <a:avLst/>
          </a:prstGeom>
          <a:noFill/>
          <a:ln/>
        </p:spPr>
        <p:txBody>
          <a:bodyPr wrap="none" lIns="0" tIns="0" rIns="0" bIns="0" rtlCol="0" anchor="t"/>
          <a:lstStyle/>
          <a:p>
            <a:pPr algn="l" indent="0" marL="0">
              <a:lnSpc>
                <a:spcPts val="2700"/>
              </a:lnSpc>
              <a:buNone/>
            </a:pPr>
            <a:r>
              <a:rPr lang="en-US" sz="2150" dirty="0">
                <a:solidFill>
                  <a:srgbClr val="CFD0D8"/>
                </a:solidFill>
                <a:latin typeface="Instrument Sans Semi Bold" pitchFamily="34" charset="0"/>
                <a:ea typeface="Instrument Sans Semi Bold" pitchFamily="34" charset="-122"/>
                <a:cs typeface="Instrument Sans Semi Bold" pitchFamily="34" charset="-120"/>
              </a:rPr>
              <a:t>Multiple Caption Variants</a:t>
            </a:r>
            <a:endParaRPr lang="en-US" sz="2150" dirty="0"/>
          </a:p>
        </p:txBody>
      </p:sp>
      <p:sp>
        <p:nvSpPr>
          <p:cNvPr id="5" name="Text 2"/>
          <p:cNvSpPr/>
          <p:nvPr/>
        </p:nvSpPr>
        <p:spPr>
          <a:xfrm>
            <a:off x="775216" y="3069550"/>
            <a:ext cx="6404848" cy="350163"/>
          </a:xfrm>
          <a:prstGeom prst="rect">
            <a:avLst/>
          </a:prstGeom>
          <a:noFill/>
          <a:ln/>
        </p:spPr>
        <p:txBody>
          <a:bodyPr wrap="none" lIns="0" tIns="0" rIns="0" bIns="0" rtlCol="0" anchor="t"/>
          <a:lstStyle/>
          <a:p>
            <a:pPr algn="l" indent="0" marL="0">
              <a:lnSpc>
                <a:spcPts val="2750"/>
              </a:lnSpc>
              <a:buNone/>
            </a:pPr>
            <a:r>
              <a:rPr lang="en-US" sz="1700" dirty="0">
                <a:solidFill>
                  <a:srgbClr val="CFD0D8"/>
                </a:solidFill>
                <a:latin typeface="Instrument Sans Medium" pitchFamily="34" charset="0"/>
                <a:ea typeface="Instrument Sans Medium" pitchFamily="34" charset="-122"/>
                <a:cs typeface="Instrument Sans Medium" pitchFamily="34" charset="-120"/>
              </a:rPr>
              <a:t>Generate A/B test options for better engagement rates</a:t>
            </a:r>
            <a:endParaRPr lang="en-US" sz="17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0336" y="1769983"/>
            <a:ext cx="553641" cy="553641"/>
          </a:xfrm>
          <a:prstGeom prst="rect">
            <a:avLst/>
          </a:prstGeom>
        </p:spPr>
      </p:pic>
      <p:sp>
        <p:nvSpPr>
          <p:cNvPr id="7" name="Text 3"/>
          <p:cNvSpPr/>
          <p:nvPr/>
        </p:nvSpPr>
        <p:spPr>
          <a:xfrm>
            <a:off x="7450336" y="2593896"/>
            <a:ext cx="2768679" cy="345996"/>
          </a:xfrm>
          <a:prstGeom prst="rect">
            <a:avLst/>
          </a:prstGeom>
          <a:noFill/>
          <a:ln/>
        </p:spPr>
        <p:txBody>
          <a:bodyPr wrap="none" lIns="0" tIns="0" rIns="0" bIns="0" rtlCol="0" anchor="t"/>
          <a:lstStyle/>
          <a:p>
            <a:pPr algn="l" indent="0" marL="0">
              <a:lnSpc>
                <a:spcPts val="2700"/>
              </a:lnSpc>
              <a:buNone/>
            </a:pPr>
            <a:r>
              <a:rPr lang="en-US" sz="2150" dirty="0">
                <a:solidFill>
                  <a:srgbClr val="CFD0D8"/>
                </a:solidFill>
                <a:latin typeface="Instrument Sans Semi Bold" pitchFamily="34" charset="0"/>
                <a:ea typeface="Instrument Sans Semi Bold" pitchFamily="34" charset="-122"/>
                <a:cs typeface="Instrument Sans Semi Bold" pitchFamily="34" charset="-120"/>
              </a:rPr>
              <a:t>Export Options</a:t>
            </a:r>
            <a:endParaRPr lang="en-US" sz="2150" dirty="0"/>
          </a:p>
        </p:txBody>
      </p:sp>
      <p:sp>
        <p:nvSpPr>
          <p:cNvPr id="8" name="Text 4"/>
          <p:cNvSpPr/>
          <p:nvPr/>
        </p:nvSpPr>
        <p:spPr>
          <a:xfrm>
            <a:off x="7450336" y="3069550"/>
            <a:ext cx="6404848" cy="350163"/>
          </a:xfrm>
          <a:prstGeom prst="rect">
            <a:avLst/>
          </a:prstGeom>
          <a:noFill/>
          <a:ln/>
        </p:spPr>
        <p:txBody>
          <a:bodyPr wrap="none" lIns="0" tIns="0" rIns="0" bIns="0" rtlCol="0" anchor="t"/>
          <a:lstStyle/>
          <a:p>
            <a:pPr algn="l" indent="0" marL="0">
              <a:lnSpc>
                <a:spcPts val="2750"/>
              </a:lnSpc>
              <a:buNone/>
            </a:pPr>
            <a:r>
              <a:rPr lang="en-US" sz="1700" dirty="0">
                <a:solidFill>
                  <a:srgbClr val="CFD0D8"/>
                </a:solidFill>
                <a:latin typeface="Instrument Sans Medium" pitchFamily="34" charset="0"/>
                <a:ea typeface="Instrument Sans Medium" pitchFamily="34" charset="-122"/>
                <a:cs typeface="Instrument Sans Medium" pitchFamily="34" charset="-120"/>
              </a:rPr>
              <a:t>Download captions as .txt files for later use</a:t>
            </a:r>
            <a:endParaRPr lang="en-US" sz="17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5216" y="3852267"/>
            <a:ext cx="553641" cy="553641"/>
          </a:xfrm>
          <a:prstGeom prst="rect">
            <a:avLst/>
          </a:prstGeom>
        </p:spPr>
      </p:pic>
      <p:sp>
        <p:nvSpPr>
          <p:cNvPr id="10" name="Text 5"/>
          <p:cNvSpPr/>
          <p:nvPr/>
        </p:nvSpPr>
        <p:spPr>
          <a:xfrm>
            <a:off x="775216" y="4676180"/>
            <a:ext cx="2768679" cy="345996"/>
          </a:xfrm>
          <a:prstGeom prst="rect">
            <a:avLst/>
          </a:prstGeom>
          <a:noFill/>
          <a:ln/>
        </p:spPr>
        <p:txBody>
          <a:bodyPr wrap="none" lIns="0" tIns="0" rIns="0" bIns="0" rtlCol="0" anchor="t"/>
          <a:lstStyle/>
          <a:p>
            <a:pPr algn="l" indent="0" marL="0">
              <a:lnSpc>
                <a:spcPts val="2700"/>
              </a:lnSpc>
              <a:buNone/>
            </a:pPr>
            <a:r>
              <a:rPr lang="en-US" sz="2150" dirty="0">
                <a:solidFill>
                  <a:srgbClr val="CFD0D8"/>
                </a:solidFill>
                <a:latin typeface="Instrument Sans Semi Bold" pitchFamily="34" charset="0"/>
                <a:ea typeface="Instrument Sans Semi Bold" pitchFamily="34" charset="-122"/>
                <a:cs typeface="Instrument Sans Semi Bold" pitchFamily="34" charset="-120"/>
              </a:rPr>
              <a:t>Theme Toggle</a:t>
            </a:r>
            <a:endParaRPr lang="en-US" sz="2150" dirty="0"/>
          </a:p>
        </p:txBody>
      </p:sp>
      <p:sp>
        <p:nvSpPr>
          <p:cNvPr id="11" name="Text 6"/>
          <p:cNvSpPr/>
          <p:nvPr/>
        </p:nvSpPr>
        <p:spPr>
          <a:xfrm>
            <a:off x="775216" y="5151834"/>
            <a:ext cx="6404848" cy="350163"/>
          </a:xfrm>
          <a:prstGeom prst="rect">
            <a:avLst/>
          </a:prstGeom>
          <a:noFill/>
          <a:ln/>
        </p:spPr>
        <p:txBody>
          <a:bodyPr wrap="none" lIns="0" tIns="0" rIns="0" bIns="0" rtlCol="0" anchor="t"/>
          <a:lstStyle/>
          <a:p>
            <a:pPr algn="l" indent="0" marL="0">
              <a:lnSpc>
                <a:spcPts val="2750"/>
              </a:lnSpc>
              <a:buNone/>
            </a:pPr>
            <a:r>
              <a:rPr lang="en-US" sz="1700" dirty="0">
                <a:solidFill>
                  <a:srgbClr val="CFD0D8"/>
                </a:solidFill>
                <a:latin typeface="Instrument Sans Medium" pitchFamily="34" charset="0"/>
                <a:ea typeface="Instrument Sans Medium" pitchFamily="34" charset="-122"/>
                <a:cs typeface="Instrument Sans Medium" pitchFamily="34" charset="-120"/>
              </a:rPr>
              <a:t>Light/dark UI mode for comfortable viewing</a:t>
            </a:r>
            <a:endParaRPr lang="en-US" sz="17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0336" y="3852267"/>
            <a:ext cx="553641" cy="553641"/>
          </a:xfrm>
          <a:prstGeom prst="rect">
            <a:avLst/>
          </a:prstGeom>
        </p:spPr>
      </p:pic>
      <p:sp>
        <p:nvSpPr>
          <p:cNvPr id="13" name="Text 7"/>
          <p:cNvSpPr/>
          <p:nvPr/>
        </p:nvSpPr>
        <p:spPr>
          <a:xfrm>
            <a:off x="7450336" y="4676180"/>
            <a:ext cx="2768679" cy="345996"/>
          </a:xfrm>
          <a:prstGeom prst="rect">
            <a:avLst/>
          </a:prstGeom>
          <a:noFill/>
          <a:ln/>
        </p:spPr>
        <p:txBody>
          <a:bodyPr wrap="none" lIns="0" tIns="0" rIns="0" bIns="0" rtlCol="0" anchor="t"/>
          <a:lstStyle/>
          <a:p>
            <a:pPr algn="l" indent="0" marL="0">
              <a:lnSpc>
                <a:spcPts val="2700"/>
              </a:lnSpc>
              <a:buNone/>
            </a:pPr>
            <a:r>
              <a:rPr lang="en-US" sz="2150" dirty="0">
                <a:solidFill>
                  <a:srgbClr val="CFD0D8"/>
                </a:solidFill>
                <a:latin typeface="Instrument Sans Semi Bold" pitchFamily="34" charset="0"/>
                <a:ea typeface="Instrument Sans Semi Bold" pitchFamily="34" charset="-122"/>
                <a:cs typeface="Instrument Sans Semi Bold" pitchFamily="34" charset="-120"/>
              </a:rPr>
              <a:t>Multi-Language</a:t>
            </a:r>
            <a:endParaRPr lang="en-US" sz="2150" dirty="0"/>
          </a:p>
        </p:txBody>
      </p:sp>
      <p:sp>
        <p:nvSpPr>
          <p:cNvPr id="14" name="Text 8"/>
          <p:cNvSpPr/>
          <p:nvPr/>
        </p:nvSpPr>
        <p:spPr>
          <a:xfrm>
            <a:off x="7450336" y="5151834"/>
            <a:ext cx="6404848" cy="350163"/>
          </a:xfrm>
          <a:prstGeom prst="rect">
            <a:avLst/>
          </a:prstGeom>
          <a:noFill/>
          <a:ln/>
        </p:spPr>
        <p:txBody>
          <a:bodyPr wrap="none" lIns="0" tIns="0" rIns="0" bIns="0" rtlCol="0" anchor="t"/>
          <a:lstStyle/>
          <a:p>
            <a:pPr algn="l" indent="0" marL="0">
              <a:lnSpc>
                <a:spcPts val="2750"/>
              </a:lnSpc>
              <a:buNone/>
            </a:pPr>
            <a:r>
              <a:rPr lang="en-US" sz="1700" dirty="0">
                <a:solidFill>
                  <a:srgbClr val="CFD0D8"/>
                </a:solidFill>
                <a:latin typeface="Instrument Sans Medium" pitchFamily="34" charset="0"/>
                <a:ea typeface="Instrument Sans Medium" pitchFamily="34" charset="-122"/>
                <a:cs typeface="Instrument Sans Medium" pitchFamily="34" charset="-120"/>
              </a:rPr>
              <a:t>Support for non-English content creation</a:t>
            </a:r>
            <a:endParaRPr lang="en-US" sz="17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5216" y="5934551"/>
            <a:ext cx="553641" cy="553641"/>
          </a:xfrm>
          <a:prstGeom prst="rect">
            <a:avLst/>
          </a:prstGeom>
        </p:spPr>
      </p:pic>
      <p:sp>
        <p:nvSpPr>
          <p:cNvPr id="16" name="Text 9"/>
          <p:cNvSpPr/>
          <p:nvPr/>
        </p:nvSpPr>
        <p:spPr>
          <a:xfrm>
            <a:off x="775216" y="6758464"/>
            <a:ext cx="2768679" cy="345996"/>
          </a:xfrm>
          <a:prstGeom prst="rect">
            <a:avLst/>
          </a:prstGeom>
          <a:noFill/>
          <a:ln/>
        </p:spPr>
        <p:txBody>
          <a:bodyPr wrap="none" lIns="0" tIns="0" rIns="0" bIns="0" rtlCol="0" anchor="t"/>
          <a:lstStyle/>
          <a:p>
            <a:pPr algn="l" indent="0" marL="0">
              <a:lnSpc>
                <a:spcPts val="2700"/>
              </a:lnSpc>
              <a:buNone/>
            </a:pPr>
            <a:r>
              <a:rPr lang="en-US" sz="2150" dirty="0">
                <a:solidFill>
                  <a:srgbClr val="CFD0D8"/>
                </a:solidFill>
                <a:latin typeface="Instrument Sans Semi Bold" pitchFamily="34" charset="0"/>
                <a:ea typeface="Instrument Sans Semi Bold" pitchFamily="34" charset="-122"/>
                <a:cs typeface="Instrument Sans Semi Bold" pitchFamily="34" charset="-120"/>
              </a:rPr>
              <a:t>Video Support</a:t>
            </a:r>
            <a:endParaRPr lang="en-US" sz="2150" dirty="0"/>
          </a:p>
        </p:txBody>
      </p:sp>
      <p:sp>
        <p:nvSpPr>
          <p:cNvPr id="17" name="Text 10"/>
          <p:cNvSpPr/>
          <p:nvPr/>
        </p:nvSpPr>
        <p:spPr>
          <a:xfrm>
            <a:off x="775216" y="7234118"/>
            <a:ext cx="6404848" cy="350163"/>
          </a:xfrm>
          <a:prstGeom prst="rect">
            <a:avLst/>
          </a:prstGeom>
          <a:noFill/>
          <a:ln/>
        </p:spPr>
        <p:txBody>
          <a:bodyPr wrap="none" lIns="0" tIns="0" rIns="0" bIns="0" rtlCol="0" anchor="t"/>
          <a:lstStyle/>
          <a:p>
            <a:pPr algn="l" indent="0" marL="0">
              <a:lnSpc>
                <a:spcPts val="2750"/>
              </a:lnSpc>
              <a:buNone/>
            </a:pPr>
            <a:r>
              <a:rPr lang="en-US" sz="1700" dirty="0">
                <a:solidFill>
                  <a:srgbClr val="CFD0D8"/>
                </a:solidFill>
                <a:latin typeface="Instrument Sans Medium" pitchFamily="34" charset="0"/>
                <a:ea typeface="Instrument Sans Medium" pitchFamily="34" charset="-122"/>
                <a:cs typeface="Instrument Sans Medium" pitchFamily="34" charset="-120"/>
              </a:rPr>
              <a:t>Process video thumbnails and frames</a:t>
            </a:r>
            <a:endParaRPr lang="en-US" sz="17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50336" y="5934551"/>
            <a:ext cx="553641" cy="553641"/>
          </a:xfrm>
          <a:prstGeom prst="rect">
            <a:avLst/>
          </a:prstGeom>
        </p:spPr>
      </p:pic>
      <p:sp>
        <p:nvSpPr>
          <p:cNvPr id="19" name="Text 11"/>
          <p:cNvSpPr/>
          <p:nvPr/>
        </p:nvSpPr>
        <p:spPr>
          <a:xfrm>
            <a:off x="7450336" y="6758464"/>
            <a:ext cx="2768679" cy="345996"/>
          </a:xfrm>
          <a:prstGeom prst="rect">
            <a:avLst/>
          </a:prstGeom>
          <a:noFill/>
          <a:ln/>
        </p:spPr>
        <p:txBody>
          <a:bodyPr wrap="none" lIns="0" tIns="0" rIns="0" bIns="0" rtlCol="0" anchor="t"/>
          <a:lstStyle/>
          <a:p>
            <a:pPr algn="l" indent="0" marL="0">
              <a:lnSpc>
                <a:spcPts val="2700"/>
              </a:lnSpc>
              <a:buNone/>
            </a:pPr>
            <a:r>
              <a:rPr lang="en-US" sz="2150" dirty="0">
                <a:solidFill>
                  <a:srgbClr val="CFD0D8"/>
                </a:solidFill>
                <a:latin typeface="Instrument Sans Semi Bold" pitchFamily="34" charset="0"/>
                <a:ea typeface="Instrument Sans Semi Bold" pitchFamily="34" charset="-122"/>
                <a:cs typeface="Instrument Sans Semi Bold" pitchFamily="34" charset="-120"/>
              </a:rPr>
              <a:t>Analytics Dashboard</a:t>
            </a:r>
            <a:endParaRPr lang="en-US" sz="2150" dirty="0"/>
          </a:p>
        </p:txBody>
      </p:sp>
      <p:sp>
        <p:nvSpPr>
          <p:cNvPr id="20" name="Text 12"/>
          <p:cNvSpPr/>
          <p:nvPr/>
        </p:nvSpPr>
        <p:spPr>
          <a:xfrm>
            <a:off x="7450336" y="7234118"/>
            <a:ext cx="6404848" cy="350163"/>
          </a:xfrm>
          <a:prstGeom prst="rect">
            <a:avLst/>
          </a:prstGeom>
          <a:noFill/>
          <a:ln/>
        </p:spPr>
        <p:txBody>
          <a:bodyPr wrap="none" lIns="0" tIns="0" rIns="0" bIns="0" rtlCol="0" anchor="t"/>
          <a:lstStyle/>
          <a:p>
            <a:pPr algn="l" indent="0" marL="0">
              <a:lnSpc>
                <a:spcPts val="2750"/>
              </a:lnSpc>
              <a:buNone/>
            </a:pPr>
            <a:r>
              <a:rPr lang="en-US" sz="1700" dirty="0">
                <a:solidFill>
                  <a:srgbClr val="CFD0D8"/>
                </a:solidFill>
                <a:latin typeface="Instrument Sans Medium" pitchFamily="34" charset="0"/>
                <a:ea typeface="Instrument Sans Medium" pitchFamily="34" charset="-122"/>
                <a:cs typeface="Instrument Sans Medium" pitchFamily="34" charset="-120"/>
              </a:rPr>
              <a:t>Track performance across platforms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1761" y="523161"/>
            <a:ext cx="8630603" cy="594479"/>
          </a:xfrm>
          <a:prstGeom prst="rect">
            <a:avLst/>
          </a:prstGeom>
          <a:noFill/>
          <a:ln/>
        </p:spPr>
        <p:txBody>
          <a:bodyPr wrap="none" lIns="0" tIns="0" rIns="0" bIns="0" rtlCol="0" anchor="t"/>
          <a:lstStyle/>
          <a:p>
            <a:pPr algn="l" indent="0" marL="0">
              <a:lnSpc>
                <a:spcPts val="4650"/>
              </a:lnSpc>
              <a:buNone/>
            </a:pPr>
            <a:r>
              <a:rPr lang="en-US" sz="3700" dirty="0">
                <a:solidFill>
                  <a:srgbClr val="CBCCCE"/>
                </a:solidFill>
                <a:latin typeface="Instrument Sans Semi Bold" pitchFamily="34" charset="0"/>
                <a:ea typeface="Instrument Sans Semi Bold" pitchFamily="34" charset="-122"/>
                <a:cs typeface="Instrument Sans Semi Bold" pitchFamily="34" charset="-120"/>
              </a:rPr>
              <a:t>Ready to Transform Your Social Media?</a:t>
            </a:r>
            <a:endParaRPr lang="en-US" sz="3700" dirty="0"/>
          </a:p>
        </p:txBody>
      </p:sp>
      <p:sp>
        <p:nvSpPr>
          <p:cNvPr id="3" name="Shape 1"/>
          <p:cNvSpPr/>
          <p:nvPr/>
        </p:nvSpPr>
        <p:spPr>
          <a:xfrm>
            <a:off x="614720" y="1356955"/>
            <a:ext cx="4566761" cy="5437942"/>
          </a:xfrm>
          <a:prstGeom prst="roundRect">
            <a:avLst>
              <a:gd name="adj" fmla="val 2999"/>
            </a:avLst>
          </a:prstGeom>
          <a:solidFill>
            <a:srgbClr val="D5D5D8">
              <a:alpha val="95000"/>
            </a:srgbClr>
          </a:solidFill>
          <a:ln/>
        </p:spPr>
      </p:sp>
      <p:sp>
        <p:nvSpPr>
          <p:cNvPr id="4" name="Text 2"/>
          <p:cNvSpPr/>
          <p:nvPr/>
        </p:nvSpPr>
        <p:spPr>
          <a:xfrm>
            <a:off x="804862" y="2594848"/>
            <a:ext cx="2853571" cy="356711"/>
          </a:xfrm>
          <a:prstGeom prst="rect">
            <a:avLst/>
          </a:prstGeom>
          <a:noFill/>
          <a:ln/>
        </p:spPr>
        <p:txBody>
          <a:bodyPr wrap="none" lIns="0" tIns="0" rIns="0" bIns="0" rtlCol="0" anchor="t"/>
          <a:lstStyle/>
          <a:p>
            <a:pPr algn="l" indent="0" marL="0">
              <a:lnSpc>
                <a:spcPts val="2800"/>
              </a:lnSpc>
              <a:buNone/>
            </a:pPr>
            <a:r>
              <a:rPr lang="en-US" sz="2200" dirty="0">
                <a:solidFill>
                  <a:srgbClr val="000000"/>
                </a:solidFill>
                <a:latin typeface="Instrument Sans Semi Bold" pitchFamily="34" charset="0"/>
                <a:ea typeface="Instrument Sans Semi Bold" pitchFamily="34" charset="-122"/>
                <a:cs typeface="Instrument Sans Semi Bold" pitchFamily="34" charset="-120"/>
              </a:rPr>
              <a:t>Get Started Today</a:t>
            </a:r>
            <a:endParaRPr lang="en-US" sz="2200" dirty="0"/>
          </a:p>
        </p:txBody>
      </p:sp>
      <p:sp>
        <p:nvSpPr>
          <p:cNvPr id="5" name="Text 3"/>
          <p:cNvSpPr/>
          <p:nvPr/>
        </p:nvSpPr>
        <p:spPr>
          <a:xfrm>
            <a:off x="804862" y="3111103"/>
            <a:ext cx="4186476" cy="1119187"/>
          </a:xfrm>
          <a:prstGeom prst="rect">
            <a:avLst/>
          </a:prstGeom>
          <a:noFill/>
          <a:ln/>
        </p:spPr>
        <p:txBody>
          <a:bodyPr wrap="square" lIns="0" tIns="0" rIns="0" bIns="0" rtlCol="0" anchor="t"/>
          <a:lstStyle/>
          <a:p>
            <a:pPr algn="l" indent="0" marL="0">
              <a:lnSpc>
                <a:spcPts val="2200"/>
              </a:lnSpc>
              <a:buNone/>
            </a:pPr>
            <a:r>
              <a:rPr lang="en-US" sz="1450" dirty="0">
                <a:solidFill>
                  <a:srgbClr val="000000"/>
                </a:solidFill>
                <a:latin typeface="Instrument Sans Medium" pitchFamily="34" charset="0"/>
                <a:ea typeface="Instrument Sans Medium" pitchFamily="34" charset="-122"/>
                <a:cs typeface="Instrument Sans Medium" pitchFamily="34" charset="-120"/>
              </a:rPr>
              <a:t>Social Mood Matcher is production-ready with modular architecture, comprehensive error handling, and deployment options for Streamlit Cloud, Docker, or major cloud platforms.</a:t>
            </a:r>
            <a:endParaRPr lang="en-US" sz="1450" dirty="0"/>
          </a:p>
        </p:txBody>
      </p:sp>
      <p:sp>
        <p:nvSpPr>
          <p:cNvPr id="6" name="Text 4"/>
          <p:cNvSpPr/>
          <p:nvPr/>
        </p:nvSpPr>
        <p:spPr>
          <a:xfrm>
            <a:off x="804862" y="4373880"/>
            <a:ext cx="4186476" cy="1286708"/>
          </a:xfrm>
          <a:prstGeom prst="rect">
            <a:avLst/>
          </a:prstGeom>
          <a:noFill/>
          <a:ln/>
        </p:spPr>
        <p:txBody>
          <a:bodyPr wrap="square" lIns="0" tIns="0" rIns="0" bIns="0" rtlCol="0" anchor="t"/>
          <a:lstStyle/>
          <a:p>
            <a:pPr algn="l" marL="342900" indent="-342900">
              <a:lnSpc>
                <a:spcPts val="2200"/>
              </a:lnSpc>
              <a:buSzPct val="100000"/>
              <a:buChar char="•"/>
            </a:pPr>
            <a:r>
              <a:rPr lang="en-US" sz="1450" dirty="0">
                <a:solidFill>
                  <a:srgbClr val="000000"/>
                </a:solidFill>
                <a:latin typeface="Instrument Sans Medium" pitchFamily="34" charset="0"/>
                <a:ea typeface="Instrument Sans Medium" pitchFamily="34" charset="-122"/>
                <a:cs typeface="Instrument Sans Medium" pitchFamily="34" charset="-120"/>
              </a:rPr>
              <a:t>Open source (MIT License)</a:t>
            </a:r>
            <a:endParaRPr lang="en-US" sz="1450" dirty="0"/>
          </a:p>
          <a:p>
            <a:pPr algn="l" marL="342900" indent="-342900">
              <a:lnSpc>
                <a:spcPts val="2200"/>
              </a:lnSpc>
              <a:buSzPct val="100000"/>
              <a:buChar char="•"/>
            </a:pPr>
            <a:r>
              <a:rPr lang="en-US" sz="1450" dirty="0">
                <a:solidFill>
                  <a:srgbClr val="000000"/>
                </a:solidFill>
                <a:latin typeface="Instrument Sans Medium" pitchFamily="34" charset="0"/>
                <a:ea typeface="Instrument Sans Medium" pitchFamily="34" charset="-122"/>
                <a:cs typeface="Instrument Sans Medium" pitchFamily="34" charset="-120"/>
              </a:rPr>
              <a:t>No API keys required</a:t>
            </a:r>
            <a:endParaRPr lang="en-US" sz="1450" dirty="0"/>
          </a:p>
          <a:p>
            <a:pPr algn="l" marL="342900" indent="-342900">
              <a:lnSpc>
                <a:spcPts val="2200"/>
              </a:lnSpc>
              <a:buSzPct val="100000"/>
              <a:buChar char="•"/>
            </a:pPr>
            <a:r>
              <a:rPr lang="en-US" sz="1450" dirty="0">
                <a:solidFill>
                  <a:srgbClr val="000000"/>
                </a:solidFill>
                <a:latin typeface="Instrument Sans Medium" pitchFamily="34" charset="0"/>
                <a:ea typeface="Instrument Sans Medium" pitchFamily="34" charset="-122"/>
                <a:cs typeface="Instrument Sans Medium" pitchFamily="34" charset="-120"/>
              </a:rPr>
              <a:t>Local processing for privacy</a:t>
            </a:r>
            <a:endParaRPr lang="en-US" sz="1450" dirty="0"/>
          </a:p>
          <a:p>
            <a:pPr algn="l" marL="342900" indent="-342900">
              <a:lnSpc>
                <a:spcPts val="2200"/>
              </a:lnSpc>
              <a:buSzPct val="100000"/>
              <a:buChar char="•"/>
            </a:pPr>
            <a:r>
              <a:rPr lang="en-US" sz="1450" dirty="0">
                <a:solidFill>
                  <a:srgbClr val="000000"/>
                </a:solidFill>
                <a:latin typeface="Instrument Sans Medium" pitchFamily="34" charset="0"/>
                <a:ea typeface="Instrument Sans Medium" pitchFamily="34" charset="-122"/>
                <a:cs typeface="Instrument Sans Medium" pitchFamily="34" charset="-120"/>
              </a:rPr>
              <a:t>Easy to customize and extend</a:t>
            </a:r>
            <a:endParaRPr lang="en-US" sz="1450" dirty="0"/>
          </a:p>
        </p:txBody>
      </p:sp>
      <p:sp>
        <p:nvSpPr>
          <p:cNvPr id="7" name="Shape 5"/>
          <p:cNvSpPr/>
          <p:nvPr/>
        </p:nvSpPr>
        <p:spPr>
          <a:xfrm>
            <a:off x="5379125" y="1356955"/>
            <a:ext cx="8643938" cy="5437942"/>
          </a:xfrm>
          <a:prstGeom prst="roundRect">
            <a:avLst>
              <a:gd name="adj" fmla="val 2519"/>
            </a:avLst>
          </a:prstGeom>
          <a:solidFill>
            <a:srgbClr val="D5D5D8">
              <a:alpha val="95000"/>
            </a:srgbClr>
          </a:solidFill>
          <a:ln/>
        </p:spPr>
      </p:sp>
      <p:pic>
        <p:nvPicPr>
          <p:cNvPr id="8" name="Image 0" descr="preencoded.png">    </p:cNvPr>
          <p:cNvPicPr>
            <a:picLocks noChangeAspect="1"/>
          </p:cNvPicPr>
          <p:nvPr/>
        </p:nvPicPr>
        <p:blipFill>
          <a:blip r:embed="rId1"/>
          <a:stretch>
            <a:fillRect/>
          </a:stretch>
        </p:blipFill>
        <p:spPr>
          <a:xfrm>
            <a:off x="5569268" y="1536383"/>
            <a:ext cx="8263652" cy="4612243"/>
          </a:xfrm>
          <a:prstGeom prst="rect">
            <a:avLst/>
          </a:prstGeom>
        </p:spPr>
      </p:pic>
      <p:sp>
        <p:nvSpPr>
          <p:cNvPr id="9" name="Text 6"/>
          <p:cNvSpPr/>
          <p:nvPr/>
        </p:nvSpPr>
        <p:spPr>
          <a:xfrm>
            <a:off x="5854541" y="6328053"/>
            <a:ext cx="7978378" cy="287417"/>
          </a:xfrm>
          <a:prstGeom prst="rect">
            <a:avLst/>
          </a:prstGeom>
          <a:noFill/>
          <a:ln/>
        </p:spPr>
        <p:txBody>
          <a:bodyPr wrap="none" lIns="0" tIns="0" rIns="0" bIns="0" rtlCol="0" anchor="t"/>
          <a:lstStyle/>
          <a:p>
            <a:pPr algn="l" indent="0" marL="0">
              <a:lnSpc>
                <a:spcPts val="2200"/>
              </a:lnSpc>
              <a:buNone/>
            </a:pPr>
            <a:r>
              <a:rPr lang="en-US" sz="1450" dirty="0">
                <a:solidFill>
                  <a:srgbClr val="000000"/>
                </a:solidFill>
                <a:latin typeface="Instrument Sans Medium" pitchFamily="34" charset="0"/>
                <a:ea typeface="Instrument Sans Medium" pitchFamily="34" charset="-122"/>
                <a:cs typeface="Instrument Sans Medium" pitchFamily="34" charset="-120"/>
              </a:rPr>
              <a:t>Made with </a:t>
            </a:r>
            <a:pPr algn="l" indent="0" marL="0">
              <a:lnSpc>
                <a:spcPts val="2200"/>
              </a:lnSpc>
              <a:buNone/>
            </a:pPr>
            <a:r>
              <a:rPr lang="en-US" sz="1450" b="1" dirty="0">
                <a:solidFill>
                  <a:srgbClr val="000000"/>
                </a:solidFill>
                <a:latin typeface="Instrument Sans Medium" pitchFamily="34" charset="0"/>
                <a:ea typeface="Instrument Sans Medium" pitchFamily="34" charset="-122"/>
                <a:cs typeface="Instrument Sans Medium" pitchFamily="34" charset="-120"/>
              </a:rPr>
              <a:t>❤️</a:t>
            </a:r>
            <a:pPr algn="l" indent="0" marL="0">
              <a:lnSpc>
                <a:spcPts val="2200"/>
              </a:lnSpc>
              <a:buNone/>
            </a:pPr>
            <a:r>
              <a:rPr lang="en-US" sz="1450" dirty="0">
                <a:solidFill>
                  <a:srgbClr val="000000"/>
                </a:solidFill>
                <a:latin typeface="Instrument Sans Medium" pitchFamily="34" charset="0"/>
                <a:ea typeface="Instrument Sans Medium" pitchFamily="34" charset="-122"/>
                <a:cs typeface="Instrument Sans Medium" pitchFamily="34" charset="-120"/>
              </a:rPr>
              <a:t> using Streamlit &amp; Hugging Face Transformers</a:t>
            </a:r>
            <a:endParaRPr lang="en-US" sz="1450" dirty="0"/>
          </a:p>
        </p:txBody>
      </p:sp>
      <p:sp>
        <p:nvSpPr>
          <p:cNvPr id="10" name="Shape 7"/>
          <p:cNvSpPr/>
          <p:nvPr/>
        </p:nvSpPr>
        <p:spPr>
          <a:xfrm>
            <a:off x="5569268" y="6328053"/>
            <a:ext cx="22860" cy="287417"/>
          </a:xfrm>
          <a:prstGeom prst="rect">
            <a:avLst/>
          </a:prstGeom>
          <a:solidFill>
            <a:srgbClr val="D5D5D8"/>
          </a:solidFill>
          <a:ln/>
        </p:spPr>
      </p:sp>
      <p:sp>
        <p:nvSpPr>
          <p:cNvPr id="11" name="Shape 8"/>
          <p:cNvSpPr/>
          <p:nvPr/>
        </p:nvSpPr>
        <p:spPr>
          <a:xfrm>
            <a:off x="751761" y="6974324"/>
            <a:ext cx="13126760" cy="733068"/>
          </a:xfrm>
          <a:prstGeom prst="roundRect">
            <a:avLst>
              <a:gd name="adj" fmla="val 10900"/>
            </a:avLst>
          </a:prstGeom>
          <a:solidFill>
            <a:srgbClr val="252528"/>
          </a:solidFill>
          <a:ln/>
        </p:spPr>
      </p:sp>
      <p:pic>
        <p:nvPicPr>
          <p:cNvPr id="12" name="Image 1" descr="preencoded.png">    </p:cNvPr>
          <p:cNvPicPr>
            <a:picLocks noChangeAspect="1"/>
          </p:cNvPicPr>
          <p:nvPr/>
        </p:nvPicPr>
        <p:blipFill>
          <a:blip r:embed="rId2"/>
          <a:stretch>
            <a:fillRect/>
          </a:stretch>
        </p:blipFill>
        <p:spPr>
          <a:xfrm>
            <a:off x="941903" y="7251263"/>
            <a:ext cx="237768" cy="190143"/>
          </a:xfrm>
          <a:prstGeom prst="rect">
            <a:avLst/>
          </a:prstGeom>
        </p:spPr>
      </p:pic>
      <p:sp>
        <p:nvSpPr>
          <p:cNvPr id="13" name="Text 9"/>
          <p:cNvSpPr/>
          <p:nvPr/>
        </p:nvSpPr>
        <p:spPr>
          <a:xfrm>
            <a:off x="1369814" y="7181374"/>
            <a:ext cx="12318563" cy="287417"/>
          </a:xfrm>
          <a:prstGeom prst="rect">
            <a:avLst/>
          </a:prstGeom>
          <a:noFill/>
          <a:ln/>
        </p:spPr>
        <p:txBody>
          <a:bodyPr wrap="none" lIns="0" tIns="0" rIns="0" bIns="0" rtlCol="0" anchor="t"/>
          <a:lstStyle/>
          <a:p>
            <a:pPr algn="l" indent="0" marL="0">
              <a:lnSpc>
                <a:spcPts val="2200"/>
              </a:lnSpc>
              <a:buNone/>
            </a:pPr>
            <a:r>
              <a:rPr lang="en-US" sz="1450" dirty="0">
                <a:solidFill>
                  <a:srgbClr val="000000"/>
                </a:solidFill>
                <a:latin typeface="Instrument Sans Medium" pitchFamily="34" charset="0"/>
                <a:ea typeface="Instrument Sans Medium" pitchFamily="34" charset="-122"/>
                <a:cs typeface="Instrument Sans Medium" pitchFamily="34" charset="-120"/>
              </a:rPr>
              <a:t>⭐</a:t>
            </a:r>
            <a:pPr algn="l" indent="0" marL="0">
              <a:lnSpc>
                <a:spcPts val="2200"/>
              </a:lnSpc>
              <a:buNone/>
            </a:pPr>
            <a:r>
              <a:rPr lang="en-US" sz="1450" dirty="0">
                <a:solidFill>
                  <a:srgbClr val="FFFFFF"/>
                </a:solidFill>
                <a:latin typeface="Instrument Sans Medium" pitchFamily="34" charset="0"/>
                <a:ea typeface="Instrument Sans Medium" pitchFamily="34" charset="-122"/>
                <a:cs typeface="Instrument Sans Medium" pitchFamily="34" charset="-120"/>
              </a:rPr>
              <a:t> Star this repository on GitHub if you find it helpful! Contributions welcome—fork, create feature branches, and open pull requests.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2026-03-07T17:48:04Z</dcterms:created>
  <dcterms:modified xsi:type="dcterms:W3CDTF">2026-03-07T17:48:04Z</dcterms:modified>
</cp:coreProperties>
</file>